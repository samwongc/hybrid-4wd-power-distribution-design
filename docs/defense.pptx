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2.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8288000" cy="10287000"/>
  <p:notesSz cx="6858000" cy="9144000"/>
  <p:embeddedFontLst>
    <p:embeddedFont>
      <p:font typeface="Calibri" panose="020F0502020204030204" charset="0"/>
      <p:regular r:id="rId28"/>
      <p:bold r:id="rId29"/>
      <p:italic r:id="rId30"/>
      <p:boldItalic r:id="rId31"/>
    </p:embeddedFont>
  </p:embeddedFontLst>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gs" Target="tags/tag1.xml"/><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1.sv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6722835"/>
            <a:ext cx="18288000" cy="3278026"/>
            <a:chOff x="0" y="0"/>
            <a:chExt cx="1293001" cy="231763"/>
          </a:xfrm>
        </p:grpSpPr>
        <p:sp>
          <p:nvSpPr>
            <p:cNvPr id="3" name="Freeform 3"/>
            <p:cNvSpPr/>
            <p:nvPr/>
          </p:nvSpPr>
          <p:spPr>
            <a:xfrm>
              <a:off x="0" y="0"/>
              <a:ext cx="1293001" cy="231763"/>
            </a:xfrm>
            <a:custGeom>
              <a:avLst/>
              <a:gdLst/>
              <a:ahLst/>
              <a:cxnLst/>
              <a:rect l="l" t="t" r="r" b="b"/>
              <a:pathLst>
                <a:path w="1293001" h="231763">
                  <a:moveTo>
                    <a:pt x="1293001" y="0"/>
                  </a:moveTo>
                  <a:lnTo>
                    <a:pt x="1293001" y="231763"/>
                  </a:lnTo>
                  <a:lnTo>
                    <a:pt x="646500" y="104763"/>
                  </a:lnTo>
                  <a:lnTo>
                    <a:pt x="0" y="231763"/>
                  </a:lnTo>
                  <a:lnTo>
                    <a:pt x="0" y="0"/>
                  </a:lnTo>
                  <a:lnTo>
                    <a:pt x="1293001" y="0"/>
                  </a:lnTo>
                  <a:close/>
                </a:path>
              </a:pathLst>
            </a:custGeom>
            <a:solidFill>
              <a:srgbClr val="2C468D">
                <a:alpha val="50980"/>
              </a:srgbClr>
            </a:solidFill>
          </p:spPr>
        </p:sp>
        <p:sp>
          <p:nvSpPr>
            <p:cNvPr id="4" name="TextBox 4"/>
            <p:cNvSpPr txBox="1"/>
            <p:nvPr/>
          </p:nvSpPr>
          <p:spPr>
            <a:xfrm>
              <a:off x="0" y="-47625"/>
              <a:ext cx="1293001" cy="152388"/>
            </a:xfrm>
            <a:prstGeom prst="rect">
              <a:avLst/>
            </a:prstGeom>
          </p:spPr>
          <p:txBody>
            <a:bodyPr lIns="50800" tIns="50800" rIns="50800" bIns="50800" rtlCol="0" anchor="ctr"/>
            <a:lstStyle/>
            <a:p>
              <a:pPr algn="ctr">
                <a:lnSpc>
                  <a:spcPts val="2660"/>
                </a:lnSpc>
                <a:spcBef>
                  <a:spcPct val="0"/>
                </a:spcBef>
              </a:pPr>
            </a:p>
          </p:txBody>
        </p:sp>
      </p:grpSp>
      <p:grpSp>
        <p:nvGrpSpPr>
          <p:cNvPr id="5" name="Group 5"/>
          <p:cNvGrpSpPr/>
          <p:nvPr/>
        </p:nvGrpSpPr>
        <p:grpSpPr>
          <a:xfrm rot="-10800000">
            <a:off x="0" y="7008974"/>
            <a:ext cx="18288000" cy="3278026"/>
            <a:chOff x="0" y="0"/>
            <a:chExt cx="1293001" cy="231763"/>
          </a:xfrm>
        </p:grpSpPr>
        <p:sp>
          <p:nvSpPr>
            <p:cNvPr id="6" name="Freeform 6"/>
            <p:cNvSpPr/>
            <p:nvPr/>
          </p:nvSpPr>
          <p:spPr>
            <a:xfrm>
              <a:off x="0" y="0"/>
              <a:ext cx="1293001" cy="231763"/>
            </a:xfrm>
            <a:custGeom>
              <a:avLst/>
              <a:gdLst/>
              <a:ahLst/>
              <a:cxnLst/>
              <a:rect l="l" t="t" r="r" b="b"/>
              <a:pathLst>
                <a:path w="1293001" h="231763">
                  <a:moveTo>
                    <a:pt x="1293001" y="0"/>
                  </a:moveTo>
                  <a:lnTo>
                    <a:pt x="1293001" y="231763"/>
                  </a:lnTo>
                  <a:lnTo>
                    <a:pt x="646500" y="104763"/>
                  </a:lnTo>
                  <a:lnTo>
                    <a:pt x="0" y="231763"/>
                  </a:lnTo>
                  <a:lnTo>
                    <a:pt x="0" y="0"/>
                  </a:lnTo>
                  <a:lnTo>
                    <a:pt x="1293001" y="0"/>
                  </a:lnTo>
                  <a:close/>
                </a:path>
              </a:pathLst>
            </a:custGeom>
            <a:solidFill>
              <a:srgbClr val="2C468D"/>
            </a:solidFill>
          </p:spPr>
        </p:sp>
        <p:sp>
          <p:nvSpPr>
            <p:cNvPr id="7" name="TextBox 7"/>
            <p:cNvSpPr txBox="1"/>
            <p:nvPr/>
          </p:nvSpPr>
          <p:spPr>
            <a:xfrm>
              <a:off x="0" y="-47625"/>
              <a:ext cx="1293001" cy="152388"/>
            </a:xfrm>
            <a:prstGeom prst="rect">
              <a:avLst/>
            </a:prstGeom>
          </p:spPr>
          <p:txBody>
            <a:bodyPr lIns="50800" tIns="50800" rIns="50800" bIns="50800" rtlCol="0" anchor="ctr"/>
            <a:lstStyle/>
            <a:p>
              <a:pPr algn="ctr">
                <a:lnSpc>
                  <a:spcPts val="2660"/>
                </a:lnSpc>
                <a:spcBef>
                  <a:spcPct val="0"/>
                </a:spcBef>
              </a:pPr>
            </a:p>
          </p:txBody>
        </p:sp>
      </p:grpSp>
      <p:sp>
        <p:nvSpPr>
          <p:cNvPr id="11" name="Freeform 11"/>
          <p:cNvSpPr/>
          <p:nvPr/>
        </p:nvSpPr>
        <p:spPr>
          <a:xfrm>
            <a:off x="6033901" y="6181778"/>
            <a:ext cx="382735" cy="407707"/>
          </a:xfrm>
          <a:custGeom>
            <a:avLst/>
            <a:gdLst/>
            <a:ahLst/>
            <a:cxnLst/>
            <a:rect l="l" t="t" r="r" b="b"/>
            <a:pathLst>
              <a:path w="382735" h="407707">
                <a:moveTo>
                  <a:pt x="0" y="0"/>
                </a:moveTo>
                <a:lnTo>
                  <a:pt x="382734" y="0"/>
                </a:lnTo>
                <a:lnTo>
                  <a:pt x="382734" y="407707"/>
                </a:lnTo>
                <a:lnTo>
                  <a:pt x="0" y="407707"/>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sq">
            <a:noFill/>
            <a:prstDash val="solid"/>
            <a:miter/>
          </a:ln>
        </p:spPr>
      </p:sp>
      <p:sp>
        <p:nvSpPr>
          <p:cNvPr id="12" name="Freeform 12"/>
          <p:cNvSpPr/>
          <p:nvPr/>
        </p:nvSpPr>
        <p:spPr>
          <a:xfrm>
            <a:off x="9393083" y="6181778"/>
            <a:ext cx="382735" cy="407707"/>
          </a:xfrm>
          <a:custGeom>
            <a:avLst/>
            <a:gdLst/>
            <a:ahLst/>
            <a:cxnLst/>
            <a:rect l="l" t="t" r="r" b="b"/>
            <a:pathLst>
              <a:path w="382735" h="407707">
                <a:moveTo>
                  <a:pt x="0" y="0"/>
                </a:moveTo>
                <a:lnTo>
                  <a:pt x="382735" y="0"/>
                </a:lnTo>
                <a:lnTo>
                  <a:pt x="382735" y="407707"/>
                </a:lnTo>
                <a:lnTo>
                  <a:pt x="0" y="407707"/>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sq">
            <a:noFill/>
            <a:prstDash val="solid"/>
            <a:miter/>
          </a:ln>
        </p:spPr>
      </p:sp>
      <p:sp>
        <p:nvSpPr>
          <p:cNvPr id="13" name="TextBox 13"/>
          <p:cNvSpPr txBox="1"/>
          <p:nvPr/>
        </p:nvSpPr>
        <p:spPr>
          <a:xfrm>
            <a:off x="2369469" y="2921902"/>
            <a:ext cx="13829140" cy="2004060"/>
          </a:xfrm>
          <a:prstGeom prst="rect">
            <a:avLst/>
          </a:prstGeom>
        </p:spPr>
        <p:txBody>
          <a:bodyPr lIns="0" tIns="0" rIns="0" bIns="0" rtlCol="0" anchor="t">
            <a:spAutoFit/>
          </a:bodyPr>
          <a:lstStyle/>
          <a:p>
            <a:pPr algn="ctr">
              <a:lnSpc>
                <a:spcPts val="7815"/>
              </a:lnSpc>
            </a:pPr>
            <a:r>
              <a:rPr lang="en-US" sz="592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四轮驱动混合动力汽车的动力分配装置</a:t>
            </a:r>
            <a:endParaRPr lang="en-US" sz="592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endParaRPr>
          </a:p>
          <a:p>
            <a:pPr algn="ctr">
              <a:lnSpc>
                <a:spcPts val="7815"/>
              </a:lnSpc>
            </a:pPr>
            <a:r>
              <a:rPr lang="en-US" sz="592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结构设计</a:t>
            </a:r>
            <a:endParaRPr lang="en-US" sz="592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endParaRPr>
          </a:p>
        </p:txBody>
      </p:sp>
      <p:sp>
        <p:nvSpPr>
          <p:cNvPr id="14" name="TextBox 14"/>
          <p:cNvSpPr txBox="1"/>
          <p:nvPr/>
        </p:nvSpPr>
        <p:spPr>
          <a:xfrm>
            <a:off x="3070336" y="1621199"/>
            <a:ext cx="12452753" cy="3215228"/>
          </a:xfrm>
          <a:prstGeom prst="rect">
            <a:avLst/>
          </a:prstGeom>
        </p:spPr>
        <p:txBody>
          <a:bodyPr lIns="0" tIns="0" rIns="0" bIns="0" rtlCol="0" anchor="t">
            <a:spAutoFit/>
          </a:bodyPr>
          <a:lstStyle/>
          <a:p>
            <a:pPr algn="ctr">
              <a:lnSpc>
                <a:spcPts val="4485"/>
              </a:lnSpc>
            </a:pPr>
            <a:r>
              <a:rPr lang="en-US" sz="2970" b="1">
                <a:solidFill>
                  <a:srgbClr val="2C468D"/>
                </a:solidFill>
                <a:latin typeface="Akzidenz-Grotesk Medium" panose="02000603030000020004"/>
                <a:ea typeface="Akzidenz-Grotesk Medium" panose="02000603030000020004"/>
                <a:cs typeface="Akzidenz-Grotesk Medium" panose="02000603030000020004"/>
                <a:sym typeface="Akzidenz-Grotesk Medium" panose="02000603030000020004"/>
              </a:rPr>
              <a:t>STRUCTURAL DESIGN OF POWER DISTRIBUTION UNIT FOR FOUR-WHEEL DRIVE HYBRID ELECTRIC VEHICLES</a:t>
            </a:r>
            <a:endParaRPr lang="en-US" sz="2970" b="1">
              <a:solidFill>
                <a:srgbClr val="2C468D"/>
              </a:solidFill>
              <a:latin typeface="Akzidenz-Grotesk Medium" panose="02000603030000020004"/>
              <a:ea typeface="Akzidenz-Grotesk Medium" panose="02000603030000020004"/>
              <a:cs typeface="Akzidenz-Grotesk Medium" panose="02000603030000020004"/>
              <a:sym typeface="Akzidenz-Grotesk Medium" panose="02000603030000020004"/>
            </a:endParaRPr>
          </a:p>
          <a:p>
            <a:pPr algn="ctr">
              <a:lnSpc>
                <a:spcPts val="8260"/>
              </a:lnSpc>
            </a:pPr>
          </a:p>
          <a:p>
            <a:pPr algn="ctr">
              <a:lnSpc>
                <a:spcPts val="8260"/>
              </a:lnSpc>
            </a:pPr>
          </a:p>
        </p:txBody>
      </p:sp>
      <p:sp>
        <p:nvSpPr>
          <p:cNvPr id="15" name="TextBox 15"/>
          <p:cNvSpPr txBox="1"/>
          <p:nvPr/>
        </p:nvSpPr>
        <p:spPr>
          <a:xfrm>
            <a:off x="6527311" y="6217493"/>
            <a:ext cx="2409840" cy="342318"/>
          </a:xfrm>
          <a:prstGeom prst="rect">
            <a:avLst/>
          </a:prstGeom>
        </p:spPr>
        <p:txBody>
          <a:bodyPr lIns="0" tIns="0" rIns="0" bIns="0" rtlCol="0" anchor="t">
            <a:spAutoFit/>
          </a:bodyPr>
          <a:lstStyle/>
          <a:p>
            <a:pPr marL="0" lvl="0" indent="0" algn="l">
              <a:lnSpc>
                <a:spcPts val="2720"/>
              </a:lnSpc>
              <a:spcBef>
                <a:spcPct val="0"/>
              </a:spcBef>
            </a:pPr>
            <a:r>
              <a:rPr lang="en-US" sz="2265" b="1" u="none" strike="noStrike">
                <a:solidFill>
                  <a:srgbClr val="1E1E1E"/>
                </a:solidFill>
                <a:latin typeface="思源黑体 2 Medium" panose="020B0600000000000000" charset="-122"/>
                <a:ea typeface="思源黑体 2 Medium" panose="020B0600000000000000" charset="-122"/>
                <a:cs typeface="思源黑体 2 Medium" panose="020B0600000000000000" charset="-122"/>
                <a:sym typeface="思源黑体 2 Medium" panose="020B0600000000000000" charset="-122"/>
              </a:rPr>
              <a:t>答辩学生：王陆飞</a:t>
            </a:r>
            <a:endParaRPr lang="en-US" sz="2265" b="1" u="none" strike="noStrike">
              <a:solidFill>
                <a:srgbClr val="1E1E1E"/>
              </a:solidFill>
              <a:latin typeface="思源黑体 2 Medium" panose="020B0600000000000000" charset="-122"/>
              <a:ea typeface="思源黑体 2 Medium" panose="020B0600000000000000" charset="-122"/>
              <a:cs typeface="思源黑体 2 Medium" panose="020B0600000000000000" charset="-122"/>
              <a:sym typeface="思源黑体 2 Medium" panose="020B0600000000000000" charset="-122"/>
            </a:endParaRPr>
          </a:p>
        </p:txBody>
      </p:sp>
      <p:sp>
        <p:nvSpPr>
          <p:cNvPr id="16" name="TextBox 16"/>
          <p:cNvSpPr txBox="1"/>
          <p:nvPr/>
        </p:nvSpPr>
        <p:spPr>
          <a:xfrm>
            <a:off x="9886493" y="6217493"/>
            <a:ext cx="2367606" cy="342318"/>
          </a:xfrm>
          <a:prstGeom prst="rect">
            <a:avLst/>
          </a:prstGeom>
        </p:spPr>
        <p:txBody>
          <a:bodyPr lIns="0" tIns="0" rIns="0" bIns="0" rtlCol="0" anchor="t">
            <a:spAutoFit/>
          </a:bodyPr>
          <a:lstStyle/>
          <a:p>
            <a:pPr marL="0" lvl="0" indent="0" algn="l">
              <a:lnSpc>
                <a:spcPts val="2720"/>
              </a:lnSpc>
              <a:spcBef>
                <a:spcPct val="0"/>
              </a:spcBef>
            </a:pPr>
            <a:r>
              <a:rPr lang="en-US" sz="2265" b="1" u="none" strike="noStrike">
                <a:solidFill>
                  <a:srgbClr val="1E1E1E"/>
                </a:solidFill>
                <a:latin typeface="思源黑体 2 Medium" panose="020B0600000000000000" charset="-122"/>
                <a:ea typeface="思源黑体 2 Medium" panose="020B0600000000000000" charset="-122"/>
                <a:cs typeface="思源黑体 2 Medium" panose="020B0600000000000000" charset="-122"/>
                <a:sym typeface="思源黑体 2 Medium" panose="020B0600000000000000" charset="-122"/>
              </a:rPr>
              <a:t>指导老师：杨洪亮</a:t>
            </a:r>
            <a:endParaRPr lang="en-US" sz="2265" b="1" u="none" strike="noStrike">
              <a:solidFill>
                <a:srgbClr val="1E1E1E"/>
              </a:solidFill>
              <a:latin typeface="思源黑体 2 Medium" panose="020B0600000000000000" charset="-122"/>
              <a:ea typeface="思源黑体 2 Medium" panose="020B0600000000000000" charset="-122"/>
              <a:cs typeface="思源黑体 2 Medium" panose="020B0600000000000000" charset="-122"/>
              <a:sym typeface="思源黑体 2 Medium" panose="020B06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481664" y="7453010"/>
            <a:ext cx="6353598" cy="6353598"/>
            <a:chOff x="0" y="0"/>
            <a:chExt cx="1247445" cy="1247445"/>
          </a:xfrm>
        </p:grpSpPr>
        <p:sp>
          <p:nvSpPr>
            <p:cNvPr id="3" name="Freeform 3"/>
            <p:cNvSpPr/>
            <p:nvPr/>
          </p:nvSpPr>
          <p:spPr>
            <a:xfrm>
              <a:off x="0" y="0"/>
              <a:ext cx="1247445" cy="1247445"/>
            </a:xfrm>
            <a:custGeom>
              <a:avLst/>
              <a:gdLst/>
              <a:ahLst/>
              <a:cxnLst/>
              <a:rect l="l" t="t" r="r" b="b"/>
              <a:pathLst>
                <a:path w="1247445" h="1247445">
                  <a:moveTo>
                    <a:pt x="0" y="0"/>
                  </a:moveTo>
                  <a:lnTo>
                    <a:pt x="1247445" y="0"/>
                  </a:lnTo>
                  <a:lnTo>
                    <a:pt x="1247445" y="1247445"/>
                  </a:lnTo>
                  <a:lnTo>
                    <a:pt x="0" y="1247445"/>
                  </a:lnTo>
                  <a:close/>
                </a:path>
              </a:pathLst>
            </a:custGeom>
            <a:solidFill>
              <a:srgbClr val="1F367F">
                <a:alpha val="89804"/>
              </a:srgbClr>
            </a:solidFill>
          </p:spPr>
        </p:sp>
        <p:sp>
          <p:nvSpPr>
            <p:cNvPr id="4" name="TextBox 4"/>
            <p:cNvSpPr txBox="1"/>
            <p:nvPr/>
          </p:nvSpPr>
          <p:spPr>
            <a:xfrm>
              <a:off x="0" y="-47625"/>
              <a:ext cx="1247445" cy="1295070"/>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776495" y="5613136"/>
            <a:ext cx="5583985" cy="5583985"/>
            <a:chOff x="0" y="0"/>
            <a:chExt cx="1096342" cy="1096342"/>
          </a:xfrm>
        </p:grpSpPr>
        <p:sp>
          <p:nvSpPr>
            <p:cNvPr id="6" name="Freeform 6"/>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7" name="TextBox 7"/>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8100000">
            <a:off x="-1083210" y="2892289"/>
            <a:ext cx="2166421" cy="2166421"/>
            <a:chOff x="0" y="0"/>
            <a:chExt cx="425348" cy="425348"/>
          </a:xfrm>
        </p:grpSpPr>
        <p:sp>
          <p:nvSpPr>
            <p:cNvPr id="9" name="Freeform 9"/>
            <p:cNvSpPr/>
            <p:nvPr/>
          </p:nvSpPr>
          <p:spPr>
            <a:xfrm>
              <a:off x="0" y="0"/>
              <a:ext cx="425348" cy="425348"/>
            </a:xfrm>
            <a:custGeom>
              <a:avLst/>
              <a:gdLst/>
              <a:ahLst/>
              <a:cxnLst/>
              <a:rect l="l" t="t" r="r" b="b"/>
              <a:pathLst>
                <a:path w="425348" h="425348">
                  <a:moveTo>
                    <a:pt x="0" y="0"/>
                  </a:moveTo>
                  <a:lnTo>
                    <a:pt x="425348" y="0"/>
                  </a:lnTo>
                  <a:lnTo>
                    <a:pt x="425348" y="425348"/>
                  </a:lnTo>
                  <a:lnTo>
                    <a:pt x="0" y="425348"/>
                  </a:lnTo>
                  <a:close/>
                </a:path>
              </a:pathLst>
            </a:custGeom>
            <a:solidFill>
              <a:srgbClr val="1F367F">
                <a:alpha val="89804"/>
              </a:srgbClr>
            </a:solidFill>
          </p:spPr>
        </p:sp>
        <p:sp>
          <p:nvSpPr>
            <p:cNvPr id="10" name="TextBox 10"/>
            <p:cNvSpPr txBox="1"/>
            <p:nvPr/>
          </p:nvSpPr>
          <p:spPr>
            <a:xfrm>
              <a:off x="0" y="-47625"/>
              <a:ext cx="425348" cy="472973"/>
            </a:xfrm>
            <a:prstGeom prst="rect">
              <a:avLst/>
            </a:prstGeom>
          </p:spPr>
          <p:txBody>
            <a:bodyPr lIns="50800" tIns="50800" rIns="50800" bIns="50800" rtlCol="0" anchor="ctr"/>
            <a:lstStyle/>
            <a:p>
              <a:pPr algn="ctr">
                <a:lnSpc>
                  <a:spcPts val="3625"/>
                </a:lnSpc>
              </a:pPr>
            </a:p>
          </p:txBody>
        </p:sp>
      </p:grpSp>
      <p:sp>
        <p:nvSpPr>
          <p:cNvPr id="11" name="TextBox 11"/>
          <p:cNvSpPr txBox="1"/>
          <p:nvPr/>
        </p:nvSpPr>
        <p:spPr>
          <a:xfrm>
            <a:off x="3064227" y="1785301"/>
            <a:ext cx="4178528" cy="1885950"/>
          </a:xfrm>
          <a:prstGeom prst="rect">
            <a:avLst/>
          </a:prstGeom>
        </p:spPr>
        <p:txBody>
          <a:bodyPr lIns="0" tIns="0" rIns="0" bIns="0" rtlCol="0" anchor="t">
            <a:spAutoFit/>
          </a:bodyPr>
          <a:lstStyle/>
          <a:p>
            <a:pPr algn="ctr">
              <a:lnSpc>
                <a:spcPts val="14865"/>
              </a:lnSpc>
            </a:pPr>
            <a:r>
              <a:rPr lang="en-US" sz="12390" b="1">
                <a:solidFill>
                  <a:srgbClr val="1F367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目录</a:t>
            </a:r>
            <a:endParaRPr lang="en-US" sz="12390" b="1">
              <a:solidFill>
                <a:srgbClr val="1F367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12" name="TextBox 12"/>
          <p:cNvSpPr txBox="1"/>
          <p:nvPr/>
        </p:nvSpPr>
        <p:spPr>
          <a:xfrm>
            <a:off x="11363114" y="2005157"/>
            <a:ext cx="4461669" cy="657225"/>
          </a:xfrm>
          <a:prstGeom prst="rect">
            <a:avLst/>
          </a:prstGeom>
        </p:spPr>
        <p:txBody>
          <a:bodyPr lIns="0" tIns="0" rIns="0" bIns="0" rtlCol="0" anchor="t">
            <a:spAutoFit/>
          </a:bodyPr>
          <a:lstStyle/>
          <a:p>
            <a:pPr algn="l">
              <a:lnSpc>
                <a:spcPts val="5280"/>
              </a:lnSpc>
            </a:pPr>
            <a:r>
              <a:rPr 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选题的背景意义</a:t>
            </a:r>
            <a:endParaRPr 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13" name="TextBox 13"/>
          <p:cNvSpPr txBox="1"/>
          <p:nvPr/>
        </p:nvSpPr>
        <p:spPr>
          <a:xfrm>
            <a:off x="11363114" y="2738073"/>
            <a:ext cx="4682888"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1F367F"/>
                </a:solidFill>
                <a:latin typeface="Akzidenz-Grotesk" panose="02000503030000020003"/>
                <a:ea typeface="Akzidenz-Grotesk" panose="02000503030000020003"/>
                <a:cs typeface="Akzidenz-Grotesk" panose="02000503030000020003"/>
                <a:sym typeface="Akzidenz-Grotesk" panose="02000503030000020003"/>
              </a:rPr>
              <a:t>Background significance of the topic</a:t>
            </a:r>
            <a:endParaRPr lang="en-US" sz="1900">
              <a:solidFill>
                <a:srgbClr val="1F367F"/>
              </a:solidFill>
              <a:latin typeface="Akzidenz-Grotesk" panose="02000503030000020003"/>
              <a:ea typeface="Akzidenz-Grotesk" panose="02000503030000020003"/>
              <a:cs typeface="Akzidenz-Grotesk" panose="02000503030000020003"/>
              <a:sym typeface="Akzidenz-Grotesk" panose="02000503030000020003"/>
            </a:endParaRPr>
          </a:p>
        </p:txBody>
      </p:sp>
      <p:sp>
        <p:nvSpPr>
          <p:cNvPr id="14" name="TextBox 14"/>
          <p:cNvSpPr txBox="1"/>
          <p:nvPr/>
        </p:nvSpPr>
        <p:spPr>
          <a:xfrm>
            <a:off x="9527565" y="1833707"/>
            <a:ext cx="1959374" cy="1323975"/>
          </a:xfrm>
          <a:prstGeom prst="rect">
            <a:avLst/>
          </a:prstGeom>
        </p:spPr>
        <p:txBody>
          <a:bodyPr lIns="0" tIns="0" rIns="0" bIns="0" rtlCol="0" anchor="t">
            <a:spAutoFit/>
          </a:bodyPr>
          <a:lstStyle/>
          <a:p>
            <a:pPr algn="l">
              <a:lnSpc>
                <a:spcPts val="9120"/>
              </a:lnSpc>
            </a:pPr>
            <a:r>
              <a:rPr lang="en-US" sz="76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rPr>
              <a:t>01.</a:t>
            </a:r>
            <a:endParaRPr lang="en-US" sz="76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15" name="TextBox 15"/>
          <p:cNvSpPr txBox="1"/>
          <p:nvPr/>
        </p:nvSpPr>
        <p:spPr>
          <a:xfrm>
            <a:off x="9527565" y="4178898"/>
            <a:ext cx="1959374" cy="1323975"/>
          </a:xfrm>
          <a:prstGeom prst="rect">
            <a:avLst/>
          </a:prstGeom>
        </p:spPr>
        <p:txBody>
          <a:bodyPr lIns="0" tIns="0" rIns="0" bIns="0" rtlCol="0" anchor="t">
            <a:spAutoFit/>
          </a:bodyPr>
          <a:lstStyle/>
          <a:p>
            <a:pPr algn="l">
              <a:lnSpc>
                <a:spcPts val="9120"/>
              </a:lnSpc>
            </a:pPr>
            <a:r>
              <a:rPr lang="en-US" sz="76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rPr>
              <a:t>02.</a:t>
            </a:r>
            <a:endParaRPr lang="en-US" sz="76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16" name="TextBox 16"/>
          <p:cNvSpPr txBox="1"/>
          <p:nvPr/>
        </p:nvSpPr>
        <p:spPr>
          <a:xfrm>
            <a:off x="11363114" y="4264623"/>
            <a:ext cx="4461669" cy="657225"/>
          </a:xfrm>
          <a:prstGeom prst="rect">
            <a:avLst/>
          </a:prstGeom>
        </p:spPr>
        <p:txBody>
          <a:bodyPr lIns="0" tIns="0" rIns="0" bIns="0" rtlCol="0" anchor="t">
            <a:spAutoFit/>
          </a:bodyPr>
          <a:lstStyle/>
          <a:p>
            <a:pPr algn="l">
              <a:lnSpc>
                <a:spcPts val="5280"/>
              </a:lnSpc>
            </a:pPr>
            <a:r>
              <a:rPr 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研究成果与展示</a:t>
            </a:r>
            <a:endParaRPr 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17" name="TextBox 17"/>
          <p:cNvSpPr txBox="1"/>
          <p:nvPr/>
        </p:nvSpPr>
        <p:spPr>
          <a:xfrm>
            <a:off x="11363114" y="5055198"/>
            <a:ext cx="4682888"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1F367F"/>
                </a:solidFill>
                <a:latin typeface="Akzidenz-Grotesk" panose="02000503030000020003"/>
                <a:ea typeface="Akzidenz-Grotesk" panose="02000503030000020003"/>
                <a:cs typeface="Akzidenz-Grotesk" panose="02000503030000020003"/>
                <a:sym typeface="Akzidenz-Grotesk" panose="02000503030000020003"/>
              </a:rPr>
              <a:t>Research results and presentation</a:t>
            </a:r>
            <a:endParaRPr lang="en-US" sz="1900">
              <a:solidFill>
                <a:srgbClr val="1F367F"/>
              </a:solidFill>
              <a:latin typeface="Akzidenz-Grotesk" panose="02000503030000020003"/>
              <a:ea typeface="Akzidenz-Grotesk" panose="02000503030000020003"/>
              <a:cs typeface="Akzidenz-Grotesk" panose="02000503030000020003"/>
              <a:sym typeface="Akzidenz-Grotesk" panose="02000503030000020003"/>
            </a:endParaRPr>
          </a:p>
        </p:txBody>
      </p:sp>
      <p:sp>
        <p:nvSpPr>
          <p:cNvPr id="18" name="TextBox 18"/>
          <p:cNvSpPr txBox="1"/>
          <p:nvPr/>
        </p:nvSpPr>
        <p:spPr>
          <a:xfrm>
            <a:off x="9527565" y="6481226"/>
            <a:ext cx="1959374" cy="1323975"/>
          </a:xfrm>
          <a:prstGeom prst="rect">
            <a:avLst/>
          </a:prstGeom>
        </p:spPr>
        <p:txBody>
          <a:bodyPr lIns="0" tIns="0" rIns="0" bIns="0" rtlCol="0" anchor="t">
            <a:spAutoFit/>
          </a:bodyPr>
          <a:lstStyle/>
          <a:p>
            <a:pPr algn="l">
              <a:lnSpc>
                <a:spcPts val="9120"/>
              </a:lnSpc>
            </a:pPr>
            <a:r>
              <a:rPr lang="en-US" sz="76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rPr>
              <a:t>03.</a:t>
            </a:r>
            <a:endParaRPr lang="en-US" sz="76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19" name="TextBox 19"/>
          <p:cNvSpPr txBox="1"/>
          <p:nvPr/>
        </p:nvSpPr>
        <p:spPr>
          <a:xfrm>
            <a:off x="11363114" y="6609814"/>
            <a:ext cx="4461669" cy="657225"/>
          </a:xfrm>
          <a:prstGeom prst="rect">
            <a:avLst/>
          </a:prstGeom>
        </p:spPr>
        <p:txBody>
          <a:bodyPr lIns="0" tIns="0" rIns="0" bIns="0" rtlCol="0" anchor="t">
            <a:spAutoFit/>
          </a:bodyPr>
          <a:lstStyle/>
          <a:p>
            <a:pPr algn="l">
              <a:lnSpc>
                <a:spcPts val="5280"/>
              </a:lnSpc>
            </a:pPr>
            <a:r>
              <a:rPr 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论文总结与致谢</a:t>
            </a:r>
            <a:endParaRPr lang="en-US" sz="4400" b="1">
              <a:solidFill>
                <a:srgbClr val="100F0D"/>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20" name="TextBox 20"/>
          <p:cNvSpPr txBox="1"/>
          <p:nvPr/>
        </p:nvSpPr>
        <p:spPr>
          <a:xfrm>
            <a:off x="11363114" y="7385592"/>
            <a:ext cx="4682888"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1F367F"/>
                </a:solidFill>
                <a:latin typeface="Akzidenz-Grotesk" panose="02000503030000020003"/>
                <a:ea typeface="Akzidenz-Grotesk" panose="02000503030000020003"/>
                <a:cs typeface="Akzidenz-Grotesk" panose="02000503030000020003"/>
                <a:sym typeface="Akzidenz-Grotesk" panose="02000503030000020003"/>
              </a:rPr>
              <a:t>Paper summary and acknowledgments</a:t>
            </a:r>
            <a:endParaRPr lang="en-US" sz="1900">
              <a:solidFill>
                <a:srgbClr val="1F367F"/>
              </a:solidFill>
              <a:latin typeface="Akzidenz-Grotesk" panose="02000503030000020003"/>
              <a:ea typeface="Akzidenz-Grotesk" panose="02000503030000020003"/>
              <a:cs typeface="Akzidenz-Grotesk" panose="02000503030000020003"/>
              <a:sym typeface="Akzidenz-Grotesk" panose="02000503030000020003"/>
            </a:endParaRPr>
          </a:p>
        </p:txBody>
      </p:sp>
      <p:sp>
        <p:nvSpPr>
          <p:cNvPr id="21" name="TextBox 21"/>
          <p:cNvSpPr txBox="1"/>
          <p:nvPr/>
        </p:nvSpPr>
        <p:spPr>
          <a:xfrm>
            <a:off x="3617884" y="3700369"/>
            <a:ext cx="3071213" cy="638175"/>
          </a:xfrm>
          <a:prstGeom prst="rect">
            <a:avLst/>
          </a:prstGeom>
        </p:spPr>
        <p:txBody>
          <a:bodyPr lIns="0" tIns="0" rIns="0" bIns="0" rtlCol="0" anchor="t">
            <a:spAutoFit/>
          </a:bodyPr>
          <a:lstStyle/>
          <a:p>
            <a:pPr algn="ctr">
              <a:lnSpc>
                <a:spcPts val="4440"/>
              </a:lnSpc>
            </a:pPr>
            <a:r>
              <a:rPr lang="en-US" sz="3700">
                <a:solidFill>
                  <a:srgbClr val="1F367F"/>
                </a:solidFill>
                <a:latin typeface="Akzidenz-Grotesk" panose="02000503030000020003"/>
                <a:ea typeface="Akzidenz-Grotesk" panose="02000503030000020003"/>
                <a:cs typeface="Akzidenz-Grotesk" panose="02000503030000020003"/>
                <a:sym typeface="Akzidenz-Grotesk" panose="02000503030000020003"/>
              </a:rPr>
              <a:t>Contents</a:t>
            </a:r>
            <a:endParaRPr lang="en-US" sz="3700">
              <a:solidFill>
                <a:srgbClr val="1F367F"/>
              </a:solidFill>
              <a:latin typeface="Akzidenz-Grotesk" panose="02000503030000020003"/>
              <a:ea typeface="Akzidenz-Grotesk" panose="02000503030000020003"/>
              <a:cs typeface="Akzidenz-Grotesk" panose="02000503030000020003"/>
              <a:sym typeface="Akzidenz-Grotesk" panose="02000503030000020003"/>
            </a:endParaRPr>
          </a:p>
        </p:txBody>
      </p:sp>
      <p:grpSp>
        <p:nvGrpSpPr>
          <p:cNvPr id="22" name="Group 22"/>
          <p:cNvGrpSpPr/>
          <p:nvPr/>
        </p:nvGrpSpPr>
        <p:grpSpPr>
          <a:xfrm rot="8100000">
            <a:off x="16258120" y="-1415683"/>
            <a:ext cx="2684915" cy="2684915"/>
            <a:chOff x="0" y="0"/>
            <a:chExt cx="527148" cy="527148"/>
          </a:xfrm>
        </p:grpSpPr>
        <p:sp>
          <p:nvSpPr>
            <p:cNvPr id="23" name="Freeform 23"/>
            <p:cNvSpPr/>
            <p:nvPr/>
          </p:nvSpPr>
          <p:spPr>
            <a:xfrm>
              <a:off x="0" y="0"/>
              <a:ext cx="527148" cy="527148"/>
            </a:xfrm>
            <a:custGeom>
              <a:avLst/>
              <a:gdLst/>
              <a:ahLst/>
              <a:cxnLst/>
              <a:rect l="l" t="t" r="r" b="b"/>
              <a:pathLst>
                <a:path w="527148" h="527148">
                  <a:moveTo>
                    <a:pt x="0" y="0"/>
                  </a:moveTo>
                  <a:lnTo>
                    <a:pt x="527148" y="0"/>
                  </a:lnTo>
                  <a:lnTo>
                    <a:pt x="527148" y="527148"/>
                  </a:lnTo>
                  <a:lnTo>
                    <a:pt x="0" y="527148"/>
                  </a:lnTo>
                  <a:close/>
                </a:path>
              </a:pathLst>
            </a:custGeom>
            <a:solidFill>
              <a:srgbClr val="1F367F">
                <a:alpha val="89804"/>
              </a:srgbClr>
            </a:solidFill>
          </p:spPr>
        </p:sp>
        <p:sp>
          <p:nvSpPr>
            <p:cNvPr id="24" name="TextBox 24"/>
            <p:cNvSpPr txBox="1"/>
            <p:nvPr/>
          </p:nvSpPr>
          <p:spPr>
            <a:xfrm>
              <a:off x="0" y="-47625"/>
              <a:ext cx="527148" cy="574773"/>
            </a:xfrm>
            <a:prstGeom prst="rect">
              <a:avLst/>
            </a:prstGeom>
          </p:spPr>
          <p:txBody>
            <a:bodyPr lIns="50800" tIns="50800" rIns="50800" bIns="50800" rtlCol="0" anchor="ctr"/>
            <a:lstStyle/>
            <a:p>
              <a:pPr algn="ctr">
                <a:lnSpc>
                  <a:spcPts val="3625"/>
                </a:lnSpc>
              </a:p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700000">
            <a:off x="13156868" y="-2330570"/>
            <a:ext cx="4613749" cy="4613749"/>
            <a:chOff x="0" y="0"/>
            <a:chExt cx="1096342" cy="1096342"/>
          </a:xfrm>
        </p:grpSpPr>
        <p:sp>
          <p:nvSpPr>
            <p:cNvPr id="3" name="Freeform 3"/>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4" name="TextBox 4"/>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2700000">
            <a:off x="16098266" y="-640609"/>
            <a:ext cx="4613749" cy="4613749"/>
            <a:chOff x="0" y="0"/>
            <a:chExt cx="1096342" cy="1096342"/>
          </a:xfrm>
        </p:grpSpPr>
        <p:sp>
          <p:nvSpPr>
            <p:cNvPr id="6" name="Freeform 6"/>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7" name="TextBox 7"/>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2700000">
            <a:off x="16552021" y="3567807"/>
            <a:ext cx="2156443" cy="2156443"/>
            <a:chOff x="0" y="0"/>
            <a:chExt cx="512425" cy="512425"/>
          </a:xfrm>
        </p:grpSpPr>
        <p:sp>
          <p:nvSpPr>
            <p:cNvPr id="9" name="Freeform 9"/>
            <p:cNvSpPr/>
            <p:nvPr/>
          </p:nvSpPr>
          <p:spPr>
            <a:xfrm>
              <a:off x="0" y="0"/>
              <a:ext cx="512425" cy="512425"/>
            </a:xfrm>
            <a:custGeom>
              <a:avLst/>
              <a:gdLst/>
              <a:ahLst/>
              <a:cxnLst/>
              <a:rect l="l" t="t" r="r" b="b"/>
              <a:pathLst>
                <a:path w="512425" h="512425">
                  <a:moveTo>
                    <a:pt x="0" y="0"/>
                  </a:moveTo>
                  <a:lnTo>
                    <a:pt x="512425" y="0"/>
                  </a:lnTo>
                  <a:lnTo>
                    <a:pt x="512425" y="512425"/>
                  </a:lnTo>
                  <a:lnTo>
                    <a:pt x="0" y="512425"/>
                  </a:lnTo>
                  <a:close/>
                </a:path>
              </a:pathLst>
            </a:custGeom>
            <a:solidFill>
              <a:srgbClr val="1F367F">
                <a:alpha val="89804"/>
              </a:srgbClr>
            </a:solidFill>
          </p:spPr>
        </p:sp>
        <p:sp>
          <p:nvSpPr>
            <p:cNvPr id="10" name="TextBox 10"/>
            <p:cNvSpPr txBox="1"/>
            <p:nvPr/>
          </p:nvSpPr>
          <p:spPr>
            <a:xfrm>
              <a:off x="0" y="-47625"/>
              <a:ext cx="512425" cy="560050"/>
            </a:xfrm>
            <a:prstGeom prst="rect">
              <a:avLst/>
            </a:prstGeom>
          </p:spPr>
          <p:txBody>
            <a:bodyPr lIns="50800" tIns="50800" rIns="50800" bIns="50800" rtlCol="0" anchor="ctr"/>
            <a:lstStyle/>
            <a:p>
              <a:pPr algn="ctr">
                <a:lnSpc>
                  <a:spcPts val="3625"/>
                </a:lnSpc>
              </a:pPr>
            </a:p>
          </p:txBody>
        </p:sp>
      </p:grpSp>
      <p:grpSp>
        <p:nvGrpSpPr>
          <p:cNvPr id="11" name="Group 11"/>
          <p:cNvGrpSpPr/>
          <p:nvPr/>
        </p:nvGrpSpPr>
        <p:grpSpPr>
          <a:xfrm rot="8100000">
            <a:off x="-151656" y="9116145"/>
            <a:ext cx="4162673" cy="4162673"/>
            <a:chOff x="0" y="0"/>
            <a:chExt cx="1096342" cy="1096342"/>
          </a:xfrm>
        </p:grpSpPr>
        <p:sp>
          <p:nvSpPr>
            <p:cNvPr id="12" name="Freeform 12"/>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13" name="TextBox 13"/>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14" name="Group 14"/>
          <p:cNvGrpSpPr/>
          <p:nvPr/>
        </p:nvGrpSpPr>
        <p:grpSpPr>
          <a:xfrm rot="8100000">
            <a:off x="-2805480" y="7591408"/>
            <a:ext cx="4162673" cy="4162673"/>
            <a:chOff x="0" y="0"/>
            <a:chExt cx="1096342" cy="1096342"/>
          </a:xfrm>
        </p:grpSpPr>
        <p:sp>
          <p:nvSpPr>
            <p:cNvPr id="15" name="Freeform 15"/>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16" name="TextBox 16"/>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17" name="Group 17"/>
          <p:cNvGrpSpPr/>
          <p:nvPr/>
        </p:nvGrpSpPr>
        <p:grpSpPr>
          <a:xfrm rot="8100000">
            <a:off x="-997811" y="6011500"/>
            <a:ext cx="1945612" cy="1945612"/>
            <a:chOff x="0" y="0"/>
            <a:chExt cx="512425" cy="512425"/>
          </a:xfrm>
        </p:grpSpPr>
        <p:sp>
          <p:nvSpPr>
            <p:cNvPr id="18" name="Freeform 18"/>
            <p:cNvSpPr/>
            <p:nvPr/>
          </p:nvSpPr>
          <p:spPr>
            <a:xfrm>
              <a:off x="0" y="0"/>
              <a:ext cx="512425" cy="512425"/>
            </a:xfrm>
            <a:custGeom>
              <a:avLst/>
              <a:gdLst/>
              <a:ahLst/>
              <a:cxnLst/>
              <a:rect l="l" t="t" r="r" b="b"/>
              <a:pathLst>
                <a:path w="512425" h="512425">
                  <a:moveTo>
                    <a:pt x="0" y="0"/>
                  </a:moveTo>
                  <a:lnTo>
                    <a:pt x="512425" y="0"/>
                  </a:lnTo>
                  <a:lnTo>
                    <a:pt x="512425" y="512425"/>
                  </a:lnTo>
                  <a:lnTo>
                    <a:pt x="0" y="512425"/>
                  </a:lnTo>
                  <a:close/>
                </a:path>
              </a:pathLst>
            </a:custGeom>
            <a:solidFill>
              <a:srgbClr val="1F367F">
                <a:alpha val="89804"/>
              </a:srgbClr>
            </a:solidFill>
          </p:spPr>
        </p:sp>
        <p:sp>
          <p:nvSpPr>
            <p:cNvPr id="19" name="TextBox 19"/>
            <p:cNvSpPr txBox="1"/>
            <p:nvPr/>
          </p:nvSpPr>
          <p:spPr>
            <a:xfrm>
              <a:off x="0" y="-47625"/>
              <a:ext cx="512425" cy="560050"/>
            </a:xfrm>
            <a:prstGeom prst="rect">
              <a:avLst/>
            </a:prstGeom>
          </p:spPr>
          <p:txBody>
            <a:bodyPr lIns="50800" tIns="50800" rIns="50800" bIns="50800" rtlCol="0" anchor="ctr"/>
            <a:lstStyle/>
            <a:p>
              <a:pPr algn="ctr">
                <a:lnSpc>
                  <a:spcPts val="3625"/>
                </a:lnSpc>
              </a:pPr>
            </a:p>
          </p:txBody>
        </p:sp>
      </p:grpSp>
      <p:grpSp>
        <p:nvGrpSpPr>
          <p:cNvPr id="20" name="Group 20"/>
          <p:cNvGrpSpPr/>
          <p:nvPr/>
        </p:nvGrpSpPr>
        <p:grpSpPr>
          <a:xfrm rot="0">
            <a:off x="2672131" y="4857293"/>
            <a:ext cx="5687183" cy="494082"/>
            <a:chOff x="0" y="0"/>
            <a:chExt cx="1497859" cy="130129"/>
          </a:xfrm>
        </p:grpSpPr>
        <p:sp>
          <p:nvSpPr>
            <p:cNvPr id="21" name="Freeform 21"/>
            <p:cNvSpPr/>
            <p:nvPr/>
          </p:nvSpPr>
          <p:spPr>
            <a:xfrm>
              <a:off x="0" y="0"/>
              <a:ext cx="1497859" cy="130129"/>
            </a:xfrm>
            <a:custGeom>
              <a:avLst/>
              <a:gdLst/>
              <a:ahLst/>
              <a:cxnLst/>
              <a:rect l="l" t="t" r="r" b="b"/>
              <a:pathLst>
                <a:path w="1497859" h="130129">
                  <a:moveTo>
                    <a:pt x="0" y="0"/>
                  </a:moveTo>
                  <a:lnTo>
                    <a:pt x="1497859" y="0"/>
                  </a:lnTo>
                  <a:lnTo>
                    <a:pt x="1497859" y="130129"/>
                  </a:lnTo>
                  <a:lnTo>
                    <a:pt x="0" y="130129"/>
                  </a:lnTo>
                  <a:close/>
                </a:path>
              </a:pathLst>
            </a:custGeom>
            <a:solidFill>
              <a:srgbClr val="1F367F"/>
            </a:solidFill>
          </p:spPr>
        </p:sp>
        <p:sp>
          <p:nvSpPr>
            <p:cNvPr id="22" name="TextBox 22"/>
            <p:cNvSpPr txBox="1"/>
            <p:nvPr/>
          </p:nvSpPr>
          <p:spPr>
            <a:xfrm>
              <a:off x="0" y="-47625"/>
              <a:ext cx="1497859" cy="177754"/>
            </a:xfrm>
            <a:prstGeom prst="rect">
              <a:avLst/>
            </a:prstGeom>
          </p:spPr>
          <p:txBody>
            <a:bodyPr lIns="50800" tIns="50800" rIns="50800" bIns="50800" rtlCol="0" anchor="ctr"/>
            <a:lstStyle/>
            <a:p>
              <a:pPr algn="ctr">
                <a:lnSpc>
                  <a:spcPts val="3625"/>
                </a:lnSpc>
              </a:pPr>
            </a:p>
          </p:txBody>
        </p:sp>
      </p:grpSp>
      <p:sp>
        <p:nvSpPr>
          <p:cNvPr id="23" name="TextBox 23"/>
          <p:cNvSpPr txBox="1"/>
          <p:nvPr/>
        </p:nvSpPr>
        <p:spPr>
          <a:xfrm>
            <a:off x="2672131" y="3396728"/>
            <a:ext cx="7643783" cy="1306830"/>
          </a:xfrm>
          <a:prstGeom prst="rect">
            <a:avLst/>
          </a:prstGeom>
        </p:spPr>
        <p:txBody>
          <a:bodyPr lIns="0" tIns="0" rIns="0" bIns="0" rtlCol="0" anchor="t">
            <a:spAutoFit/>
          </a:bodyPr>
          <a:lstStyle/>
          <a:p>
            <a:pPr marL="0" lvl="0" indent="0" algn="l">
              <a:lnSpc>
                <a:spcPts val="10560"/>
              </a:lnSpc>
              <a:spcBef>
                <a:spcPct val="0"/>
              </a:spcBef>
            </a:pPr>
            <a:r>
              <a:rPr lang="en-US" sz="80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选题的背景意义</a:t>
            </a:r>
            <a:endParaRPr lang="en-US" sz="80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endParaRPr>
          </a:p>
        </p:txBody>
      </p:sp>
      <p:sp>
        <p:nvSpPr>
          <p:cNvPr id="24" name="TextBox 24"/>
          <p:cNvSpPr txBox="1"/>
          <p:nvPr/>
        </p:nvSpPr>
        <p:spPr>
          <a:xfrm>
            <a:off x="3041079" y="4923359"/>
            <a:ext cx="5318235"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FFFFFF"/>
                </a:solidFill>
                <a:latin typeface="Akzidenz-Grotesk" panose="02000503030000020003"/>
                <a:ea typeface="Akzidenz-Grotesk" panose="02000503030000020003"/>
                <a:cs typeface="Akzidenz-Grotesk" panose="02000503030000020003"/>
                <a:sym typeface="Akzidenz-Grotesk" panose="02000503030000020003"/>
              </a:rPr>
              <a:t>Background significance of the topic</a:t>
            </a:r>
            <a:endParaRPr lang="en-US" sz="1900">
              <a:solidFill>
                <a:srgbClr val="FFFFFF"/>
              </a:solidFill>
              <a:latin typeface="Akzidenz-Grotesk" panose="02000503030000020003"/>
              <a:ea typeface="Akzidenz-Grotesk" panose="02000503030000020003"/>
              <a:cs typeface="Akzidenz-Grotesk" panose="02000503030000020003"/>
              <a:sym typeface="Akzidenz-Grotesk" panose="02000503030000020003"/>
            </a:endParaRPr>
          </a:p>
        </p:txBody>
      </p:sp>
      <p:sp>
        <p:nvSpPr>
          <p:cNvPr id="25" name="TextBox 25"/>
          <p:cNvSpPr txBox="1"/>
          <p:nvPr/>
        </p:nvSpPr>
        <p:spPr>
          <a:xfrm>
            <a:off x="10306389" y="3375547"/>
            <a:ext cx="4756725" cy="3267075"/>
          </a:xfrm>
          <a:prstGeom prst="rect">
            <a:avLst/>
          </a:prstGeom>
        </p:spPr>
        <p:txBody>
          <a:bodyPr lIns="0" tIns="0" rIns="0" bIns="0" rtlCol="0" anchor="t">
            <a:spAutoFit/>
          </a:bodyPr>
          <a:lstStyle/>
          <a:p>
            <a:pPr algn="r">
              <a:lnSpc>
                <a:spcPts val="22800"/>
              </a:lnSpc>
            </a:pPr>
            <a:r>
              <a:rPr lang="en-US" sz="190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rPr>
              <a:t>01.</a:t>
            </a:r>
            <a:endParaRPr lang="en-US" sz="190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9595853" y="2961365"/>
            <a:ext cx="7108933" cy="5712382"/>
            <a:chOff x="0" y="0"/>
            <a:chExt cx="29016679" cy="23316351"/>
          </a:xfrm>
        </p:grpSpPr>
        <p:sp>
          <p:nvSpPr>
            <p:cNvPr id="9" name="Freeform 9"/>
            <p:cNvSpPr/>
            <p:nvPr/>
          </p:nvSpPr>
          <p:spPr>
            <a:xfrm>
              <a:off x="0" y="0"/>
              <a:ext cx="29016678" cy="23316414"/>
            </a:xfrm>
            <a:custGeom>
              <a:avLst/>
              <a:gdLst/>
              <a:ahLst/>
              <a:cxnLst/>
              <a:rect l="l" t="t" r="r" b="b"/>
              <a:pathLst>
                <a:path w="29016678" h="23316414">
                  <a:moveTo>
                    <a:pt x="0" y="0"/>
                  </a:moveTo>
                  <a:lnTo>
                    <a:pt x="29016678" y="0"/>
                  </a:lnTo>
                  <a:lnTo>
                    <a:pt x="29016678" y="23316414"/>
                  </a:lnTo>
                  <a:lnTo>
                    <a:pt x="0" y="23316414"/>
                  </a:lnTo>
                </a:path>
              </a:pathLst>
            </a:custGeom>
            <a:blipFill>
              <a:blip r:embed="rId1"/>
              <a:stretch>
                <a:fillRect l="-14123" r="-14123"/>
              </a:stretch>
            </a:blipFill>
          </p:spPr>
        </p:sp>
      </p:grpSp>
      <p:grpSp>
        <p:nvGrpSpPr>
          <p:cNvPr id="10" name="Group 10"/>
          <p:cNvGrpSpPr/>
          <p:nvPr/>
        </p:nvGrpSpPr>
        <p:grpSpPr>
          <a:xfrm rot="0">
            <a:off x="1583214" y="2961365"/>
            <a:ext cx="7479239" cy="2639959"/>
            <a:chOff x="0" y="0"/>
            <a:chExt cx="1969841" cy="695298"/>
          </a:xfrm>
        </p:grpSpPr>
        <p:sp>
          <p:nvSpPr>
            <p:cNvPr id="11" name="Freeform 11"/>
            <p:cNvSpPr/>
            <p:nvPr/>
          </p:nvSpPr>
          <p:spPr>
            <a:xfrm>
              <a:off x="0" y="0"/>
              <a:ext cx="1969841" cy="695298"/>
            </a:xfrm>
            <a:custGeom>
              <a:avLst/>
              <a:gdLst/>
              <a:ahLst/>
              <a:cxnLst/>
              <a:rect l="l" t="t" r="r" b="b"/>
              <a:pathLst>
                <a:path w="1969841" h="695298">
                  <a:moveTo>
                    <a:pt x="0" y="0"/>
                  </a:moveTo>
                  <a:lnTo>
                    <a:pt x="1969841" y="0"/>
                  </a:lnTo>
                  <a:lnTo>
                    <a:pt x="1969841" y="695298"/>
                  </a:lnTo>
                  <a:lnTo>
                    <a:pt x="0" y="695298"/>
                  </a:lnTo>
                  <a:close/>
                </a:path>
              </a:pathLst>
            </a:custGeom>
            <a:solidFill>
              <a:srgbClr val="1F367F">
                <a:alpha val="9804"/>
              </a:srgbClr>
            </a:solidFill>
            <a:ln cap="sq">
              <a:noFill/>
              <a:prstDash val="solid"/>
              <a:miter/>
            </a:ln>
          </p:spPr>
        </p:sp>
        <p:sp>
          <p:nvSpPr>
            <p:cNvPr id="12" name="TextBox 12"/>
            <p:cNvSpPr txBox="1"/>
            <p:nvPr/>
          </p:nvSpPr>
          <p:spPr>
            <a:xfrm>
              <a:off x="0" y="0"/>
              <a:ext cx="1969841" cy="695298"/>
            </a:xfrm>
            <a:prstGeom prst="rect">
              <a:avLst/>
            </a:prstGeom>
          </p:spPr>
          <p:txBody>
            <a:bodyPr lIns="50800" tIns="50800" rIns="50800" bIns="50800" rtlCol="0" anchor="ctr"/>
            <a:lstStyle/>
            <a:p>
              <a:pPr algn="ctr">
                <a:lnSpc>
                  <a:spcPts val="2400"/>
                </a:lnSpc>
              </a:pPr>
            </a:p>
          </p:txBody>
        </p:sp>
      </p:grpSp>
      <p:grpSp>
        <p:nvGrpSpPr>
          <p:cNvPr id="13" name="Group 13"/>
          <p:cNvGrpSpPr/>
          <p:nvPr/>
        </p:nvGrpSpPr>
        <p:grpSpPr>
          <a:xfrm rot="0">
            <a:off x="2025058" y="3310275"/>
            <a:ext cx="856741" cy="85674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367F"/>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105"/>
                </a:lnSpc>
              </a:pPr>
            </a:p>
          </p:txBody>
        </p:sp>
      </p:grpSp>
      <p:grpSp>
        <p:nvGrpSpPr>
          <p:cNvPr id="16" name="Group 16"/>
          <p:cNvGrpSpPr/>
          <p:nvPr/>
        </p:nvGrpSpPr>
        <p:grpSpPr>
          <a:xfrm rot="0">
            <a:off x="1583214" y="6033417"/>
            <a:ext cx="7479239" cy="2640330"/>
            <a:chOff x="0" y="0"/>
            <a:chExt cx="1969841" cy="695396"/>
          </a:xfrm>
        </p:grpSpPr>
        <p:sp>
          <p:nvSpPr>
            <p:cNvPr id="17" name="Freeform 17"/>
            <p:cNvSpPr/>
            <p:nvPr/>
          </p:nvSpPr>
          <p:spPr>
            <a:xfrm>
              <a:off x="0" y="0"/>
              <a:ext cx="1969841" cy="695396"/>
            </a:xfrm>
            <a:custGeom>
              <a:avLst/>
              <a:gdLst/>
              <a:ahLst/>
              <a:cxnLst/>
              <a:rect l="l" t="t" r="r" b="b"/>
              <a:pathLst>
                <a:path w="1969841" h="695396">
                  <a:moveTo>
                    <a:pt x="0" y="0"/>
                  </a:moveTo>
                  <a:lnTo>
                    <a:pt x="1969841" y="0"/>
                  </a:lnTo>
                  <a:lnTo>
                    <a:pt x="1969841" y="695396"/>
                  </a:lnTo>
                  <a:lnTo>
                    <a:pt x="0" y="695396"/>
                  </a:lnTo>
                  <a:close/>
                </a:path>
              </a:pathLst>
            </a:custGeom>
            <a:solidFill>
              <a:srgbClr val="1F367F">
                <a:alpha val="9804"/>
              </a:srgbClr>
            </a:solidFill>
            <a:ln cap="sq">
              <a:noFill/>
              <a:prstDash val="solid"/>
              <a:miter/>
            </a:ln>
          </p:spPr>
        </p:sp>
        <p:sp>
          <p:nvSpPr>
            <p:cNvPr id="18" name="TextBox 18"/>
            <p:cNvSpPr txBox="1"/>
            <p:nvPr/>
          </p:nvSpPr>
          <p:spPr>
            <a:xfrm>
              <a:off x="0" y="0"/>
              <a:ext cx="1969841" cy="695396"/>
            </a:xfrm>
            <a:prstGeom prst="rect">
              <a:avLst/>
            </a:prstGeom>
          </p:spPr>
          <p:txBody>
            <a:bodyPr lIns="50800" tIns="50800" rIns="50800" bIns="50800" rtlCol="0" anchor="ctr"/>
            <a:lstStyle/>
            <a:p>
              <a:pPr marL="0" lvl="0" indent="0" algn="ctr">
                <a:lnSpc>
                  <a:spcPts val="2400"/>
                </a:lnSpc>
                <a:spcBef>
                  <a:spcPct val="0"/>
                </a:spcBef>
              </a:pPr>
            </a:p>
          </p:txBody>
        </p:sp>
      </p:grpSp>
      <p:grpSp>
        <p:nvGrpSpPr>
          <p:cNvPr id="19" name="Group 19"/>
          <p:cNvGrpSpPr/>
          <p:nvPr/>
        </p:nvGrpSpPr>
        <p:grpSpPr>
          <a:xfrm rot="0">
            <a:off x="2025058" y="6382327"/>
            <a:ext cx="856741" cy="856741"/>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367F"/>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105"/>
                </a:lnSpc>
              </a:pPr>
            </a:p>
          </p:txBody>
        </p:sp>
      </p:grpSp>
      <p:sp>
        <p:nvSpPr>
          <p:cNvPr id="22" name="Freeform 22"/>
          <p:cNvSpPr/>
          <p:nvPr/>
        </p:nvSpPr>
        <p:spPr>
          <a:xfrm>
            <a:off x="2201180" y="6619304"/>
            <a:ext cx="504497" cy="382787"/>
          </a:xfrm>
          <a:custGeom>
            <a:avLst/>
            <a:gdLst/>
            <a:ahLst/>
            <a:cxnLst/>
            <a:rect l="l" t="t" r="r" b="b"/>
            <a:pathLst>
              <a:path w="504497" h="382787">
                <a:moveTo>
                  <a:pt x="0" y="0"/>
                </a:moveTo>
                <a:lnTo>
                  <a:pt x="504497" y="0"/>
                </a:lnTo>
                <a:lnTo>
                  <a:pt x="504497" y="382787"/>
                </a:lnTo>
                <a:lnTo>
                  <a:pt x="0" y="3827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3" name="Freeform 23"/>
          <p:cNvSpPr/>
          <p:nvPr/>
        </p:nvSpPr>
        <p:spPr>
          <a:xfrm>
            <a:off x="2247564" y="3460711"/>
            <a:ext cx="411730" cy="532123"/>
          </a:xfrm>
          <a:custGeom>
            <a:avLst/>
            <a:gdLst/>
            <a:ahLst/>
            <a:cxnLst/>
            <a:rect l="l" t="t" r="r" b="b"/>
            <a:pathLst>
              <a:path w="411730" h="532123">
                <a:moveTo>
                  <a:pt x="0" y="0"/>
                </a:moveTo>
                <a:lnTo>
                  <a:pt x="411730" y="0"/>
                </a:lnTo>
                <a:lnTo>
                  <a:pt x="411730" y="532123"/>
                </a:lnTo>
                <a:lnTo>
                  <a:pt x="0" y="5321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4" name="TextBox 24"/>
          <p:cNvSpPr txBox="1"/>
          <p:nvPr/>
        </p:nvSpPr>
        <p:spPr>
          <a:xfrm>
            <a:off x="1421452" y="595312"/>
            <a:ext cx="5576065"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选题的背景意义</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25" name="TextBox 25"/>
          <p:cNvSpPr txBox="1"/>
          <p:nvPr/>
        </p:nvSpPr>
        <p:spPr>
          <a:xfrm>
            <a:off x="3200397" y="3924368"/>
            <a:ext cx="5333539" cy="1464310"/>
          </a:xfrm>
          <a:prstGeom prst="rect">
            <a:avLst/>
          </a:prstGeom>
        </p:spPr>
        <p:txBody>
          <a:bodyPr lIns="0" tIns="0" rIns="0" bIns="0" rtlCol="0" anchor="t">
            <a:spAutoFit/>
          </a:bodyPr>
          <a:lstStyle/>
          <a:p>
            <a:pPr algn="just">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随着全球能源危机与环境污染问题的加剧，传统燃油汽车的高能耗与高排放特性已难以满足可持续发展的需求。</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2855"/>
              </a:lnSpc>
              <a:spcBef>
                <a:spcPct val="0"/>
              </a:spcBef>
            </a:pPr>
            <a:endParaRPr sz="2400"/>
          </a:p>
        </p:txBody>
      </p:sp>
      <p:sp>
        <p:nvSpPr>
          <p:cNvPr id="26" name="TextBox 26"/>
          <p:cNvSpPr txBox="1"/>
          <p:nvPr/>
        </p:nvSpPr>
        <p:spPr>
          <a:xfrm>
            <a:off x="3193412" y="3224550"/>
            <a:ext cx="3357781" cy="510158"/>
          </a:xfrm>
          <a:prstGeom prst="rect">
            <a:avLst/>
          </a:prstGeom>
        </p:spPr>
        <p:txBody>
          <a:bodyPr lIns="0" tIns="0" rIns="0" bIns="0" rtlCol="0" anchor="t">
            <a:spAutoFit/>
          </a:bodyPr>
          <a:lstStyle/>
          <a:p>
            <a:pPr marL="0" lvl="0" indent="0" algn="l">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选题背景</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27" name="TextBox 27"/>
          <p:cNvSpPr txBox="1"/>
          <p:nvPr/>
        </p:nvSpPr>
        <p:spPr>
          <a:xfrm>
            <a:off x="3193412" y="6862435"/>
            <a:ext cx="5468107" cy="2562860"/>
          </a:xfrm>
          <a:prstGeom prst="rect">
            <a:avLst/>
          </a:prstGeom>
        </p:spPr>
        <p:txBody>
          <a:bodyPr lIns="0" tIns="0" rIns="0" bIns="0" rtlCol="0" anchor="t">
            <a:spAutoFit/>
          </a:bodyPr>
          <a:lstStyle/>
          <a:p>
            <a:pPr algn="just">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混合动力汽车是纯燃油汽车向纯电动汽车过渡的一种新能源车型，相比于前两者，HEV既有纯内燃机汽车高比功率的优点，又具备纯电动汽车高比能量和低排放的优点</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endParaRPr sz="2400"/>
          </a:p>
          <a:p>
            <a:pPr marL="0" lvl="0" indent="0" algn="just">
              <a:lnSpc>
                <a:spcPts val="2855"/>
              </a:lnSpc>
              <a:spcBef>
                <a:spcPct val="0"/>
              </a:spcBef>
            </a:pPr>
            <a:endParaRPr sz="2400"/>
          </a:p>
        </p:txBody>
      </p:sp>
      <p:sp>
        <p:nvSpPr>
          <p:cNvPr id="28" name="TextBox 28"/>
          <p:cNvSpPr txBox="1"/>
          <p:nvPr/>
        </p:nvSpPr>
        <p:spPr>
          <a:xfrm>
            <a:off x="3193412" y="6296602"/>
            <a:ext cx="3357781" cy="510158"/>
          </a:xfrm>
          <a:prstGeom prst="rect">
            <a:avLst/>
          </a:prstGeom>
        </p:spPr>
        <p:txBody>
          <a:bodyPr lIns="0" tIns="0" rIns="0" bIns="0" rtlCol="0" anchor="t">
            <a:spAutoFit/>
          </a:bodyPr>
          <a:lstStyle/>
          <a:p>
            <a:pPr marL="0" lvl="0" indent="0" algn="l">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选题意义</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21452" y="595312"/>
            <a:ext cx="5576065"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选题的背景意义</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grpSp>
        <p:nvGrpSpPr>
          <p:cNvPr id="3" name="Group 3"/>
          <p:cNvGrpSpPr/>
          <p:nvPr/>
        </p:nvGrpSpPr>
        <p:grpSpPr>
          <a:xfrm rot="8100000">
            <a:off x="-927534" y="122003"/>
            <a:ext cx="1640150" cy="1640150"/>
            <a:chOff x="0" y="0"/>
            <a:chExt cx="775859" cy="775859"/>
          </a:xfrm>
        </p:grpSpPr>
        <p:sp>
          <p:nvSpPr>
            <p:cNvPr id="4" name="Freeform 4"/>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5" name="TextBox 5"/>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6" name="Group 6"/>
          <p:cNvGrpSpPr/>
          <p:nvPr/>
        </p:nvGrpSpPr>
        <p:grpSpPr>
          <a:xfrm rot="8100000">
            <a:off x="-290992" y="-656066"/>
            <a:ext cx="1323946" cy="1323946"/>
            <a:chOff x="0" y="0"/>
            <a:chExt cx="626281" cy="626281"/>
          </a:xfrm>
        </p:grpSpPr>
        <p:sp>
          <p:nvSpPr>
            <p:cNvPr id="7" name="Freeform 7"/>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8" name="TextBox 8"/>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9" name="Group 9"/>
          <p:cNvGrpSpPr/>
          <p:nvPr/>
        </p:nvGrpSpPr>
        <p:grpSpPr>
          <a:xfrm rot="0">
            <a:off x="1845748" y="2624196"/>
            <a:ext cx="14596503" cy="1926262"/>
            <a:chOff x="0" y="0"/>
            <a:chExt cx="3079549" cy="406400"/>
          </a:xfrm>
        </p:grpSpPr>
        <p:sp>
          <p:nvSpPr>
            <p:cNvPr id="10" name="Freeform 10"/>
            <p:cNvSpPr/>
            <p:nvPr/>
          </p:nvSpPr>
          <p:spPr>
            <a:xfrm>
              <a:off x="0" y="0"/>
              <a:ext cx="3079549" cy="406400"/>
            </a:xfrm>
            <a:custGeom>
              <a:avLst/>
              <a:gdLst/>
              <a:ahLst/>
              <a:cxnLst/>
              <a:rect l="l" t="t" r="r" b="b"/>
              <a:pathLst>
                <a:path w="3079549" h="406400">
                  <a:moveTo>
                    <a:pt x="2876349" y="0"/>
                  </a:moveTo>
                  <a:cubicBezTo>
                    <a:pt x="2988573" y="0"/>
                    <a:pt x="3079549" y="90976"/>
                    <a:pt x="3079549" y="203200"/>
                  </a:cubicBezTo>
                  <a:cubicBezTo>
                    <a:pt x="3079549" y="315424"/>
                    <a:pt x="2988573" y="406400"/>
                    <a:pt x="2876349"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1F367F"/>
              </a:solidFill>
              <a:prstDash val="solid"/>
              <a:miter/>
            </a:ln>
          </p:spPr>
        </p:sp>
        <p:sp>
          <p:nvSpPr>
            <p:cNvPr id="11" name="TextBox 11"/>
            <p:cNvSpPr txBox="1"/>
            <p:nvPr/>
          </p:nvSpPr>
          <p:spPr>
            <a:xfrm>
              <a:off x="0" y="-38100"/>
              <a:ext cx="3079549" cy="444500"/>
            </a:xfrm>
            <a:prstGeom prst="rect">
              <a:avLst/>
            </a:prstGeom>
          </p:spPr>
          <p:txBody>
            <a:bodyPr lIns="50800" tIns="50800" rIns="50800" bIns="50800" rtlCol="0" anchor="ctr"/>
            <a:lstStyle/>
            <a:p>
              <a:pPr marL="0" lvl="0" indent="0" algn="ctr">
                <a:lnSpc>
                  <a:spcPts val="2660"/>
                </a:lnSpc>
                <a:spcBef>
                  <a:spcPct val="0"/>
                </a:spcBef>
              </a:pPr>
            </a:p>
          </p:txBody>
        </p:sp>
      </p:grpSp>
      <p:sp>
        <p:nvSpPr>
          <p:cNvPr id="12" name="TextBox 12"/>
          <p:cNvSpPr txBox="1"/>
          <p:nvPr/>
        </p:nvSpPr>
        <p:spPr>
          <a:xfrm>
            <a:off x="3820806" y="3461594"/>
            <a:ext cx="11984949" cy="2196465"/>
          </a:xfrm>
          <a:prstGeom prst="rect">
            <a:avLst/>
          </a:prstGeom>
        </p:spPr>
        <p:txBody>
          <a:bodyPr lIns="0" tIns="0" rIns="0" bIns="0" rtlCol="0" anchor="t">
            <a:spAutoFit/>
          </a:bodyPr>
          <a:lstStyle/>
          <a:p>
            <a:pPr algn="just">
              <a:lnSpc>
                <a:spcPts val="2855"/>
              </a:lnSpc>
            </a:pPr>
            <a:r>
              <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国外汽车制造业的混合动力技术研究起步较早，许多知名汽车企业和研究机构在四轮驱动混合动力汽车领域取得了重要成果，其中丰田是全球混合动力汽车技术的领导者，混合动力系统已经在普锐斯（Prius）等车型上得到广泛应用</a:t>
            </a:r>
            <a:endPar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p>
          <a:p>
            <a:pPr algn="just">
              <a:lnSpc>
                <a:spcPts val="2855"/>
              </a:lnSpc>
            </a:pPr>
          </a:p>
          <a:p>
            <a:pPr marL="0" lvl="0" indent="0" algn="just">
              <a:lnSpc>
                <a:spcPts val="2855"/>
              </a:lnSpc>
              <a:spcBef>
                <a:spcPct val="0"/>
              </a:spcBef>
            </a:pPr>
          </a:p>
        </p:txBody>
      </p:sp>
      <p:sp>
        <p:nvSpPr>
          <p:cNvPr id="13" name="TextBox 13"/>
          <p:cNvSpPr txBox="1"/>
          <p:nvPr/>
        </p:nvSpPr>
        <p:spPr>
          <a:xfrm>
            <a:off x="3820806" y="2872290"/>
            <a:ext cx="2889059" cy="510158"/>
          </a:xfrm>
          <a:prstGeom prst="rect">
            <a:avLst/>
          </a:prstGeom>
        </p:spPr>
        <p:txBody>
          <a:bodyPr lIns="0" tIns="0" rIns="0" bIns="0" rtlCol="0" anchor="t">
            <a:spAutoFit/>
          </a:bodyPr>
          <a:lstStyle/>
          <a:p>
            <a:pPr marL="0" lvl="0" indent="0" algn="l">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国外现状概述</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grpSp>
        <p:nvGrpSpPr>
          <p:cNvPr id="14" name="Group 14"/>
          <p:cNvGrpSpPr/>
          <p:nvPr/>
        </p:nvGrpSpPr>
        <p:grpSpPr>
          <a:xfrm rot="0">
            <a:off x="2415711" y="3104803"/>
            <a:ext cx="965048" cy="96504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367F"/>
            </a:solidFill>
          </p:spPr>
        </p:sp>
        <p:sp>
          <p:nvSpPr>
            <p:cNvPr id="16" name="TextBox 16"/>
            <p:cNvSpPr txBox="1"/>
            <p:nvPr/>
          </p:nvSpPr>
          <p:spPr>
            <a:xfrm>
              <a:off x="76200" y="76200"/>
              <a:ext cx="660400" cy="660400"/>
            </a:xfrm>
            <a:prstGeom prst="rect">
              <a:avLst/>
            </a:prstGeom>
          </p:spPr>
          <p:txBody>
            <a:bodyPr lIns="50800" tIns="50800" rIns="50800" bIns="50800" rtlCol="0" anchor="ctr"/>
            <a:lstStyle/>
            <a:p>
              <a:pPr algn="ctr">
                <a:lnSpc>
                  <a:spcPts val="2985"/>
                </a:lnSpc>
              </a:pPr>
            </a:p>
          </p:txBody>
        </p:sp>
      </p:grpSp>
      <p:sp>
        <p:nvSpPr>
          <p:cNvPr id="17" name="TextBox 17"/>
          <p:cNvSpPr txBox="1"/>
          <p:nvPr/>
        </p:nvSpPr>
        <p:spPr>
          <a:xfrm>
            <a:off x="2402367" y="3183594"/>
            <a:ext cx="991736" cy="750314"/>
          </a:xfrm>
          <a:prstGeom prst="rect">
            <a:avLst/>
          </a:prstGeom>
        </p:spPr>
        <p:txBody>
          <a:bodyPr lIns="0" tIns="0" rIns="0" bIns="0" rtlCol="0" anchor="t">
            <a:spAutoFit/>
          </a:bodyPr>
          <a:lstStyle/>
          <a:p>
            <a:pPr algn="ctr">
              <a:lnSpc>
                <a:spcPts val="5240"/>
              </a:lnSpc>
            </a:pPr>
            <a:r>
              <a:rPr lang="en-US" sz="4365"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01</a:t>
            </a:r>
            <a:endParaRPr lang="en-US" sz="4365"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grpSp>
        <p:nvGrpSpPr>
          <p:cNvPr id="18" name="Group 18"/>
          <p:cNvGrpSpPr/>
          <p:nvPr/>
        </p:nvGrpSpPr>
        <p:grpSpPr>
          <a:xfrm rot="0">
            <a:off x="1845748" y="4829969"/>
            <a:ext cx="14596503" cy="1926262"/>
            <a:chOff x="0" y="0"/>
            <a:chExt cx="3079549" cy="406400"/>
          </a:xfrm>
        </p:grpSpPr>
        <p:sp>
          <p:nvSpPr>
            <p:cNvPr id="19" name="Freeform 19"/>
            <p:cNvSpPr/>
            <p:nvPr/>
          </p:nvSpPr>
          <p:spPr>
            <a:xfrm>
              <a:off x="0" y="0"/>
              <a:ext cx="3079549" cy="406400"/>
            </a:xfrm>
            <a:custGeom>
              <a:avLst/>
              <a:gdLst/>
              <a:ahLst/>
              <a:cxnLst/>
              <a:rect l="l" t="t" r="r" b="b"/>
              <a:pathLst>
                <a:path w="3079549" h="406400">
                  <a:moveTo>
                    <a:pt x="2876349" y="0"/>
                  </a:moveTo>
                  <a:cubicBezTo>
                    <a:pt x="2988573" y="0"/>
                    <a:pt x="3079549" y="90976"/>
                    <a:pt x="3079549" y="203200"/>
                  </a:cubicBezTo>
                  <a:cubicBezTo>
                    <a:pt x="3079549" y="315424"/>
                    <a:pt x="2988573" y="406400"/>
                    <a:pt x="2876349"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4660AF"/>
              </a:solidFill>
              <a:prstDash val="solid"/>
              <a:miter/>
            </a:ln>
          </p:spPr>
        </p:sp>
        <p:sp>
          <p:nvSpPr>
            <p:cNvPr id="20" name="TextBox 20"/>
            <p:cNvSpPr txBox="1"/>
            <p:nvPr/>
          </p:nvSpPr>
          <p:spPr>
            <a:xfrm>
              <a:off x="0" y="-38100"/>
              <a:ext cx="3079549" cy="444500"/>
            </a:xfrm>
            <a:prstGeom prst="rect">
              <a:avLst/>
            </a:prstGeom>
          </p:spPr>
          <p:txBody>
            <a:bodyPr lIns="50800" tIns="50800" rIns="50800" bIns="50800" rtlCol="0" anchor="ctr"/>
            <a:lstStyle/>
            <a:p>
              <a:pPr marL="0" lvl="0" indent="0" algn="ctr">
                <a:lnSpc>
                  <a:spcPts val="2660"/>
                </a:lnSpc>
                <a:spcBef>
                  <a:spcPct val="0"/>
                </a:spcBef>
              </a:pPr>
            </a:p>
          </p:txBody>
        </p:sp>
      </p:grpSp>
      <p:sp>
        <p:nvSpPr>
          <p:cNvPr id="21" name="TextBox 21"/>
          <p:cNvSpPr txBox="1"/>
          <p:nvPr/>
        </p:nvSpPr>
        <p:spPr>
          <a:xfrm>
            <a:off x="3820806" y="5636472"/>
            <a:ext cx="11984949" cy="2196465"/>
          </a:xfrm>
          <a:prstGeom prst="rect">
            <a:avLst/>
          </a:prstGeom>
        </p:spPr>
        <p:txBody>
          <a:bodyPr lIns="0" tIns="0" rIns="0" bIns="0" rtlCol="0" anchor="t">
            <a:spAutoFit/>
          </a:bodyPr>
          <a:lstStyle/>
          <a:p>
            <a:pPr algn="just">
              <a:lnSpc>
                <a:spcPts val="2855"/>
              </a:lnSpc>
            </a:pPr>
            <a:r>
              <a:rPr 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中国在混合动力和四轮驱动技术方面起步较晚，但近年来随着新能源政策的推动，国内的汽车制造企业和科研机构也开始在这一领域取得突破。当前比亚迪在混合动力和新能源车领域占据领先地位，其DM-i四轮驱动混合动力系统结合了内燃机与电动机，在唐（Tang）等车型上得到了应用。</a:t>
            </a:r>
            <a:endPar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p>
          <a:p>
            <a:pPr algn="just">
              <a:lnSpc>
                <a:spcPts val="2855"/>
              </a:lnSpc>
            </a:pPr>
          </a:p>
          <a:p>
            <a:pPr marL="0" lvl="0" indent="0" algn="just">
              <a:lnSpc>
                <a:spcPts val="2855"/>
              </a:lnSpc>
              <a:spcBef>
                <a:spcPct val="0"/>
              </a:spcBef>
            </a:pPr>
          </a:p>
        </p:txBody>
      </p:sp>
      <p:sp>
        <p:nvSpPr>
          <p:cNvPr id="22" name="TextBox 22"/>
          <p:cNvSpPr txBox="1"/>
          <p:nvPr/>
        </p:nvSpPr>
        <p:spPr>
          <a:xfrm>
            <a:off x="3820806" y="5078063"/>
            <a:ext cx="2889059" cy="510158"/>
          </a:xfrm>
          <a:prstGeom prst="rect">
            <a:avLst/>
          </a:prstGeom>
        </p:spPr>
        <p:txBody>
          <a:bodyPr lIns="0" tIns="0" rIns="0" bIns="0" rtlCol="0" anchor="t">
            <a:spAutoFit/>
          </a:bodyPr>
          <a:lstStyle/>
          <a:p>
            <a:pPr marL="0" lvl="0" indent="0" algn="l">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国内现状概述</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grpSp>
        <p:nvGrpSpPr>
          <p:cNvPr id="23" name="Group 23"/>
          <p:cNvGrpSpPr/>
          <p:nvPr/>
        </p:nvGrpSpPr>
        <p:grpSpPr>
          <a:xfrm rot="0">
            <a:off x="2415711" y="5310576"/>
            <a:ext cx="965048" cy="96504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660AF"/>
            </a:solidFill>
          </p:spPr>
        </p:sp>
        <p:sp>
          <p:nvSpPr>
            <p:cNvPr id="25" name="TextBox 25"/>
            <p:cNvSpPr txBox="1"/>
            <p:nvPr/>
          </p:nvSpPr>
          <p:spPr>
            <a:xfrm>
              <a:off x="76200" y="76200"/>
              <a:ext cx="660400" cy="660400"/>
            </a:xfrm>
            <a:prstGeom prst="rect">
              <a:avLst/>
            </a:prstGeom>
          </p:spPr>
          <p:txBody>
            <a:bodyPr lIns="50800" tIns="50800" rIns="50800" bIns="50800" rtlCol="0" anchor="ctr"/>
            <a:lstStyle/>
            <a:p>
              <a:pPr algn="ctr">
                <a:lnSpc>
                  <a:spcPts val="2985"/>
                </a:lnSpc>
              </a:pPr>
            </a:p>
          </p:txBody>
        </p:sp>
      </p:grpSp>
      <p:sp>
        <p:nvSpPr>
          <p:cNvPr id="26" name="TextBox 26"/>
          <p:cNvSpPr txBox="1"/>
          <p:nvPr/>
        </p:nvSpPr>
        <p:spPr>
          <a:xfrm>
            <a:off x="2402367" y="5389367"/>
            <a:ext cx="991736" cy="750314"/>
          </a:xfrm>
          <a:prstGeom prst="rect">
            <a:avLst/>
          </a:prstGeom>
        </p:spPr>
        <p:txBody>
          <a:bodyPr lIns="0" tIns="0" rIns="0" bIns="0" rtlCol="0" anchor="t">
            <a:spAutoFit/>
          </a:bodyPr>
          <a:lstStyle/>
          <a:p>
            <a:pPr algn="ctr">
              <a:lnSpc>
                <a:spcPts val="5240"/>
              </a:lnSpc>
            </a:pPr>
            <a:r>
              <a:rPr lang="en-US" sz="4365"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02</a:t>
            </a:r>
            <a:endParaRPr lang="en-US" sz="4365"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grpSp>
        <p:nvGrpSpPr>
          <p:cNvPr id="27" name="Group 27"/>
          <p:cNvGrpSpPr/>
          <p:nvPr/>
        </p:nvGrpSpPr>
        <p:grpSpPr>
          <a:xfrm rot="0">
            <a:off x="1845748" y="7035742"/>
            <a:ext cx="14596503" cy="1926262"/>
            <a:chOff x="0" y="0"/>
            <a:chExt cx="3079549" cy="406400"/>
          </a:xfrm>
        </p:grpSpPr>
        <p:sp>
          <p:nvSpPr>
            <p:cNvPr id="28" name="Freeform 28"/>
            <p:cNvSpPr/>
            <p:nvPr/>
          </p:nvSpPr>
          <p:spPr>
            <a:xfrm>
              <a:off x="0" y="0"/>
              <a:ext cx="3079549" cy="406400"/>
            </a:xfrm>
            <a:custGeom>
              <a:avLst/>
              <a:gdLst/>
              <a:ahLst/>
              <a:cxnLst/>
              <a:rect l="l" t="t" r="r" b="b"/>
              <a:pathLst>
                <a:path w="3079549" h="406400">
                  <a:moveTo>
                    <a:pt x="2876349" y="0"/>
                  </a:moveTo>
                  <a:cubicBezTo>
                    <a:pt x="2988573" y="0"/>
                    <a:pt x="3079549" y="90976"/>
                    <a:pt x="3079549" y="203200"/>
                  </a:cubicBezTo>
                  <a:cubicBezTo>
                    <a:pt x="3079549" y="315424"/>
                    <a:pt x="2988573" y="406400"/>
                    <a:pt x="2876349"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1F367F"/>
              </a:solidFill>
              <a:prstDash val="solid"/>
              <a:miter/>
            </a:ln>
          </p:spPr>
        </p:sp>
        <p:sp>
          <p:nvSpPr>
            <p:cNvPr id="29" name="TextBox 29"/>
            <p:cNvSpPr txBox="1"/>
            <p:nvPr/>
          </p:nvSpPr>
          <p:spPr>
            <a:xfrm>
              <a:off x="0" y="-38100"/>
              <a:ext cx="3079549" cy="444500"/>
            </a:xfrm>
            <a:prstGeom prst="rect">
              <a:avLst/>
            </a:prstGeom>
          </p:spPr>
          <p:txBody>
            <a:bodyPr lIns="50800" tIns="50800" rIns="50800" bIns="50800" rtlCol="0" anchor="ctr"/>
            <a:lstStyle/>
            <a:p>
              <a:pPr marL="0" lvl="0" indent="0" algn="ctr">
                <a:lnSpc>
                  <a:spcPts val="2660"/>
                </a:lnSpc>
                <a:spcBef>
                  <a:spcPct val="0"/>
                </a:spcBef>
              </a:pPr>
            </a:p>
          </p:txBody>
        </p:sp>
      </p:grpSp>
      <p:sp>
        <p:nvSpPr>
          <p:cNvPr id="30" name="TextBox 30"/>
          <p:cNvSpPr txBox="1"/>
          <p:nvPr/>
        </p:nvSpPr>
        <p:spPr>
          <a:xfrm>
            <a:off x="3820806" y="8038875"/>
            <a:ext cx="11984949" cy="365760"/>
          </a:xfrm>
          <a:prstGeom prst="rect">
            <a:avLst/>
          </a:prstGeom>
        </p:spPr>
        <p:txBody>
          <a:bodyPr lIns="0" tIns="0" rIns="0" bIns="0" rtlCol="0" anchor="t">
            <a:spAutoFit/>
          </a:bodyPr>
          <a:lstStyle/>
          <a:p>
            <a:pPr marL="0" lvl="0" indent="0" algn="just">
              <a:lnSpc>
                <a:spcPts val="2855"/>
              </a:lnSpc>
              <a:spcBef>
                <a:spcPct val="0"/>
              </a:spcBef>
            </a:pPr>
            <a:r>
              <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轻量化设计、智能化控制、高效能量管理以及电气化集成是目前国内外混动技术的发展趋势。</a:t>
            </a:r>
            <a:endPar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31" name="TextBox 31"/>
          <p:cNvSpPr txBox="1"/>
          <p:nvPr/>
        </p:nvSpPr>
        <p:spPr>
          <a:xfrm>
            <a:off x="3820806" y="7283836"/>
            <a:ext cx="2889059" cy="510158"/>
          </a:xfrm>
          <a:prstGeom prst="rect">
            <a:avLst/>
          </a:prstGeom>
        </p:spPr>
        <p:txBody>
          <a:bodyPr lIns="0" tIns="0" rIns="0" bIns="0" rtlCol="0" anchor="t">
            <a:spAutoFit/>
          </a:bodyPr>
          <a:lstStyle/>
          <a:p>
            <a:pPr marL="0" lvl="0" indent="0" algn="l">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研究现状分析</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grpSp>
        <p:nvGrpSpPr>
          <p:cNvPr id="32" name="Group 32"/>
          <p:cNvGrpSpPr/>
          <p:nvPr/>
        </p:nvGrpSpPr>
        <p:grpSpPr>
          <a:xfrm rot="0">
            <a:off x="2415711" y="7516349"/>
            <a:ext cx="965048" cy="965048"/>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367F"/>
            </a:solidFill>
          </p:spPr>
        </p:sp>
        <p:sp>
          <p:nvSpPr>
            <p:cNvPr id="34" name="TextBox 34"/>
            <p:cNvSpPr txBox="1"/>
            <p:nvPr/>
          </p:nvSpPr>
          <p:spPr>
            <a:xfrm>
              <a:off x="76200" y="76200"/>
              <a:ext cx="660400" cy="660400"/>
            </a:xfrm>
            <a:prstGeom prst="rect">
              <a:avLst/>
            </a:prstGeom>
          </p:spPr>
          <p:txBody>
            <a:bodyPr lIns="50800" tIns="50800" rIns="50800" bIns="50800" rtlCol="0" anchor="ctr"/>
            <a:lstStyle/>
            <a:p>
              <a:pPr algn="ctr">
                <a:lnSpc>
                  <a:spcPts val="2985"/>
                </a:lnSpc>
              </a:pPr>
            </a:p>
          </p:txBody>
        </p:sp>
      </p:grpSp>
      <p:sp>
        <p:nvSpPr>
          <p:cNvPr id="35" name="TextBox 35"/>
          <p:cNvSpPr txBox="1"/>
          <p:nvPr/>
        </p:nvSpPr>
        <p:spPr>
          <a:xfrm>
            <a:off x="2402367" y="7595141"/>
            <a:ext cx="991736" cy="750314"/>
          </a:xfrm>
          <a:prstGeom prst="rect">
            <a:avLst/>
          </a:prstGeom>
        </p:spPr>
        <p:txBody>
          <a:bodyPr lIns="0" tIns="0" rIns="0" bIns="0" rtlCol="0" anchor="t">
            <a:spAutoFit/>
          </a:bodyPr>
          <a:lstStyle/>
          <a:p>
            <a:pPr algn="ctr">
              <a:lnSpc>
                <a:spcPts val="5240"/>
              </a:lnSpc>
            </a:pPr>
            <a:r>
              <a:rPr lang="en-US" sz="4365"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03</a:t>
            </a:r>
            <a:endParaRPr lang="en-US" sz="4365"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21452" y="595312"/>
            <a:ext cx="5576065"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选题的背景意义</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grpSp>
        <p:nvGrpSpPr>
          <p:cNvPr id="3" name="Group 3"/>
          <p:cNvGrpSpPr/>
          <p:nvPr/>
        </p:nvGrpSpPr>
        <p:grpSpPr>
          <a:xfrm rot="8100000">
            <a:off x="-927534" y="122003"/>
            <a:ext cx="1640150" cy="1640150"/>
            <a:chOff x="0" y="0"/>
            <a:chExt cx="775859" cy="775859"/>
          </a:xfrm>
        </p:grpSpPr>
        <p:sp>
          <p:nvSpPr>
            <p:cNvPr id="4" name="Freeform 4"/>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5" name="TextBox 5"/>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6" name="Group 6"/>
          <p:cNvGrpSpPr/>
          <p:nvPr/>
        </p:nvGrpSpPr>
        <p:grpSpPr>
          <a:xfrm rot="8100000">
            <a:off x="-290992" y="-656066"/>
            <a:ext cx="1323946" cy="1323946"/>
            <a:chOff x="0" y="0"/>
            <a:chExt cx="626281" cy="626281"/>
          </a:xfrm>
        </p:grpSpPr>
        <p:sp>
          <p:nvSpPr>
            <p:cNvPr id="7" name="Freeform 7"/>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8" name="TextBox 8"/>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9" name="Group 9"/>
          <p:cNvGrpSpPr/>
          <p:nvPr/>
        </p:nvGrpSpPr>
        <p:grpSpPr>
          <a:xfrm rot="0">
            <a:off x="2027440" y="2957665"/>
            <a:ext cx="4394262" cy="929024"/>
            <a:chOff x="0" y="0"/>
            <a:chExt cx="1157336" cy="244681"/>
          </a:xfrm>
        </p:grpSpPr>
        <p:sp>
          <p:nvSpPr>
            <p:cNvPr id="10" name="Freeform 10"/>
            <p:cNvSpPr/>
            <p:nvPr/>
          </p:nvSpPr>
          <p:spPr>
            <a:xfrm>
              <a:off x="0" y="0"/>
              <a:ext cx="1157337" cy="244681"/>
            </a:xfrm>
            <a:custGeom>
              <a:avLst/>
              <a:gdLst/>
              <a:ahLst/>
              <a:cxnLst/>
              <a:rect l="l" t="t" r="r" b="b"/>
              <a:pathLst>
                <a:path w="1157337" h="244681">
                  <a:moveTo>
                    <a:pt x="0" y="0"/>
                  </a:moveTo>
                  <a:lnTo>
                    <a:pt x="1157337" y="0"/>
                  </a:lnTo>
                  <a:lnTo>
                    <a:pt x="1157337" y="244681"/>
                  </a:lnTo>
                  <a:lnTo>
                    <a:pt x="0" y="244681"/>
                  </a:lnTo>
                  <a:close/>
                </a:path>
              </a:pathLst>
            </a:custGeom>
            <a:solidFill>
              <a:srgbClr val="1F367F"/>
            </a:solidFill>
          </p:spPr>
        </p:sp>
        <p:sp>
          <p:nvSpPr>
            <p:cNvPr id="11" name="TextBox 11"/>
            <p:cNvSpPr txBox="1"/>
            <p:nvPr/>
          </p:nvSpPr>
          <p:spPr>
            <a:xfrm>
              <a:off x="0" y="-57150"/>
              <a:ext cx="1157336" cy="301831"/>
            </a:xfrm>
            <a:prstGeom prst="rect">
              <a:avLst/>
            </a:prstGeom>
          </p:spPr>
          <p:txBody>
            <a:bodyPr lIns="50800" tIns="50800" rIns="50800" bIns="50800" rtlCol="0" anchor="ctr"/>
            <a:lstStyle/>
            <a:p>
              <a:pPr algn="ctr">
                <a:lnSpc>
                  <a:spcPts val="3105"/>
                </a:lnSpc>
              </a:pPr>
            </a:p>
          </p:txBody>
        </p:sp>
      </p:grpSp>
      <p:sp>
        <p:nvSpPr>
          <p:cNvPr id="12" name="TextBox 12"/>
          <p:cNvSpPr txBox="1"/>
          <p:nvPr/>
        </p:nvSpPr>
        <p:spPr>
          <a:xfrm>
            <a:off x="2312076" y="3114710"/>
            <a:ext cx="382498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选题解决的核心问题一</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grpSp>
        <p:nvGrpSpPr>
          <p:cNvPr id="13" name="Group 13"/>
          <p:cNvGrpSpPr/>
          <p:nvPr/>
        </p:nvGrpSpPr>
        <p:grpSpPr>
          <a:xfrm rot="0">
            <a:off x="2027440" y="4037998"/>
            <a:ext cx="4394262" cy="4739582"/>
            <a:chOff x="0" y="0"/>
            <a:chExt cx="1157336" cy="1248285"/>
          </a:xfrm>
        </p:grpSpPr>
        <p:sp>
          <p:nvSpPr>
            <p:cNvPr id="14" name="Freeform 14"/>
            <p:cNvSpPr/>
            <p:nvPr/>
          </p:nvSpPr>
          <p:spPr>
            <a:xfrm>
              <a:off x="0" y="0"/>
              <a:ext cx="1157337" cy="1248285"/>
            </a:xfrm>
            <a:custGeom>
              <a:avLst/>
              <a:gdLst/>
              <a:ahLst/>
              <a:cxnLst/>
              <a:rect l="l" t="t" r="r" b="b"/>
              <a:pathLst>
                <a:path w="1157337" h="1248285">
                  <a:moveTo>
                    <a:pt x="0" y="0"/>
                  </a:moveTo>
                  <a:lnTo>
                    <a:pt x="1157337" y="0"/>
                  </a:lnTo>
                  <a:lnTo>
                    <a:pt x="1157337" y="1248285"/>
                  </a:lnTo>
                  <a:lnTo>
                    <a:pt x="0" y="1248285"/>
                  </a:lnTo>
                  <a:close/>
                </a:path>
              </a:pathLst>
            </a:custGeom>
            <a:solidFill>
              <a:srgbClr val="1F367F">
                <a:alpha val="10980"/>
              </a:srgbClr>
            </a:solidFill>
          </p:spPr>
        </p:sp>
        <p:sp>
          <p:nvSpPr>
            <p:cNvPr id="15" name="TextBox 15"/>
            <p:cNvSpPr txBox="1"/>
            <p:nvPr/>
          </p:nvSpPr>
          <p:spPr>
            <a:xfrm>
              <a:off x="0" y="-57150"/>
              <a:ext cx="1157336" cy="1305435"/>
            </a:xfrm>
            <a:prstGeom prst="rect">
              <a:avLst/>
            </a:prstGeom>
          </p:spPr>
          <p:txBody>
            <a:bodyPr lIns="50800" tIns="50800" rIns="50800" bIns="50800" rtlCol="0" anchor="ctr"/>
            <a:lstStyle/>
            <a:p>
              <a:pPr algn="ctr">
                <a:lnSpc>
                  <a:spcPts val="3105"/>
                </a:lnSpc>
              </a:pPr>
            </a:p>
          </p:txBody>
        </p:sp>
      </p:grpSp>
      <p:sp>
        <p:nvSpPr>
          <p:cNvPr id="16" name="TextBox 16"/>
          <p:cNvSpPr txBox="1"/>
          <p:nvPr/>
        </p:nvSpPr>
        <p:spPr>
          <a:xfrm>
            <a:off x="2491101" y="4467593"/>
            <a:ext cx="3436768" cy="2972435"/>
          </a:xfrm>
          <a:prstGeom prst="rect">
            <a:avLst/>
          </a:prstGeom>
        </p:spPr>
        <p:txBody>
          <a:bodyPr lIns="0" tIns="0" rIns="0" bIns="0" rtlCol="0" anchor="t">
            <a:spAutoFit/>
          </a:bodyPr>
          <a:lstStyle/>
          <a:p>
            <a:pPr algn="ctr">
              <a:lnSpc>
                <a:spcPts val="4535"/>
              </a:lnSpc>
            </a:pPr>
            <a:r>
              <a:rPr lang="en-US" sz="27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动力耦合效率不足</a:t>
            </a:r>
            <a:endParaRPr lang="en-US" sz="27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algn="just">
              <a:lnSpc>
                <a:spcPts val="2855"/>
              </a:lnSpc>
            </a:pPr>
            <a:r>
              <a:rPr 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endParaRPr lang="en-US" sz="17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p>
          <a:p>
            <a:pPr algn="just">
              <a:lnSpc>
                <a:spcPts val="3360"/>
              </a:lnSpc>
            </a:pPr>
            <a:r>
              <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传统机械式分动器难以适应混合动力系统的动态功率分配需求。</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endParaRPr sz="2400"/>
          </a:p>
        </p:txBody>
      </p:sp>
      <p:grpSp>
        <p:nvGrpSpPr>
          <p:cNvPr id="17" name="Group 17"/>
          <p:cNvGrpSpPr/>
          <p:nvPr/>
        </p:nvGrpSpPr>
        <p:grpSpPr>
          <a:xfrm rot="0">
            <a:off x="6948161" y="2957665"/>
            <a:ext cx="4394262" cy="929024"/>
            <a:chOff x="0" y="0"/>
            <a:chExt cx="1157336" cy="244681"/>
          </a:xfrm>
        </p:grpSpPr>
        <p:sp>
          <p:nvSpPr>
            <p:cNvPr id="18" name="Freeform 18"/>
            <p:cNvSpPr/>
            <p:nvPr/>
          </p:nvSpPr>
          <p:spPr>
            <a:xfrm>
              <a:off x="0" y="0"/>
              <a:ext cx="1157337" cy="244681"/>
            </a:xfrm>
            <a:custGeom>
              <a:avLst/>
              <a:gdLst/>
              <a:ahLst/>
              <a:cxnLst/>
              <a:rect l="l" t="t" r="r" b="b"/>
              <a:pathLst>
                <a:path w="1157337" h="244681">
                  <a:moveTo>
                    <a:pt x="0" y="0"/>
                  </a:moveTo>
                  <a:lnTo>
                    <a:pt x="1157337" y="0"/>
                  </a:lnTo>
                  <a:lnTo>
                    <a:pt x="1157337" y="244681"/>
                  </a:lnTo>
                  <a:lnTo>
                    <a:pt x="0" y="244681"/>
                  </a:lnTo>
                  <a:close/>
                </a:path>
              </a:pathLst>
            </a:custGeom>
            <a:solidFill>
              <a:srgbClr val="4660AF"/>
            </a:solidFill>
          </p:spPr>
        </p:sp>
        <p:sp>
          <p:nvSpPr>
            <p:cNvPr id="19" name="TextBox 19"/>
            <p:cNvSpPr txBox="1"/>
            <p:nvPr/>
          </p:nvSpPr>
          <p:spPr>
            <a:xfrm>
              <a:off x="0" y="-57150"/>
              <a:ext cx="1157336" cy="301831"/>
            </a:xfrm>
            <a:prstGeom prst="rect">
              <a:avLst/>
            </a:prstGeom>
          </p:spPr>
          <p:txBody>
            <a:bodyPr lIns="50800" tIns="50800" rIns="50800" bIns="50800" rtlCol="0" anchor="ctr"/>
            <a:lstStyle/>
            <a:p>
              <a:pPr algn="ctr">
                <a:lnSpc>
                  <a:spcPts val="3105"/>
                </a:lnSpc>
              </a:pPr>
            </a:p>
          </p:txBody>
        </p:sp>
      </p:grpSp>
      <p:sp>
        <p:nvSpPr>
          <p:cNvPr id="20" name="TextBox 20"/>
          <p:cNvSpPr txBox="1"/>
          <p:nvPr/>
        </p:nvSpPr>
        <p:spPr>
          <a:xfrm>
            <a:off x="7232798" y="3114710"/>
            <a:ext cx="382498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选题解决的核心问题二</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grpSp>
        <p:nvGrpSpPr>
          <p:cNvPr id="21" name="Group 21"/>
          <p:cNvGrpSpPr/>
          <p:nvPr/>
        </p:nvGrpSpPr>
        <p:grpSpPr>
          <a:xfrm rot="0">
            <a:off x="6948161" y="4037998"/>
            <a:ext cx="4394262" cy="4739582"/>
            <a:chOff x="0" y="0"/>
            <a:chExt cx="1157336" cy="1248285"/>
          </a:xfrm>
        </p:grpSpPr>
        <p:sp>
          <p:nvSpPr>
            <p:cNvPr id="22" name="Freeform 22"/>
            <p:cNvSpPr/>
            <p:nvPr/>
          </p:nvSpPr>
          <p:spPr>
            <a:xfrm>
              <a:off x="0" y="0"/>
              <a:ext cx="1157337" cy="1248285"/>
            </a:xfrm>
            <a:custGeom>
              <a:avLst/>
              <a:gdLst/>
              <a:ahLst/>
              <a:cxnLst/>
              <a:rect l="l" t="t" r="r" b="b"/>
              <a:pathLst>
                <a:path w="1157337" h="1248285">
                  <a:moveTo>
                    <a:pt x="0" y="0"/>
                  </a:moveTo>
                  <a:lnTo>
                    <a:pt x="1157337" y="0"/>
                  </a:lnTo>
                  <a:lnTo>
                    <a:pt x="1157337" y="1248285"/>
                  </a:lnTo>
                  <a:lnTo>
                    <a:pt x="0" y="1248285"/>
                  </a:lnTo>
                  <a:close/>
                </a:path>
              </a:pathLst>
            </a:custGeom>
            <a:solidFill>
              <a:srgbClr val="4660AF">
                <a:alpha val="10980"/>
              </a:srgbClr>
            </a:solidFill>
            <a:ln cap="sq">
              <a:noFill/>
              <a:prstDash val="solid"/>
              <a:miter/>
            </a:ln>
          </p:spPr>
        </p:sp>
        <p:sp>
          <p:nvSpPr>
            <p:cNvPr id="23" name="TextBox 23"/>
            <p:cNvSpPr txBox="1"/>
            <p:nvPr/>
          </p:nvSpPr>
          <p:spPr>
            <a:xfrm>
              <a:off x="0" y="-57150"/>
              <a:ext cx="1157336" cy="1305435"/>
            </a:xfrm>
            <a:prstGeom prst="rect">
              <a:avLst/>
            </a:prstGeom>
          </p:spPr>
          <p:txBody>
            <a:bodyPr lIns="50800" tIns="50800" rIns="50800" bIns="50800" rtlCol="0" anchor="ctr"/>
            <a:lstStyle/>
            <a:p>
              <a:pPr marL="0" lvl="0" indent="0" algn="ctr">
                <a:lnSpc>
                  <a:spcPts val="3105"/>
                </a:lnSpc>
                <a:spcBef>
                  <a:spcPct val="0"/>
                </a:spcBef>
              </a:pPr>
            </a:p>
          </p:txBody>
        </p:sp>
      </p:grpSp>
      <p:sp>
        <p:nvSpPr>
          <p:cNvPr id="24" name="TextBox 24"/>
          <p:cNvSpPr txBox="1"/>
          <p:nvPr/>
        </p:nvSpPr>
        <p:spPr>
          <a:xfrm>
            <a:off x="7426908" y="4477118"/>
            <a:ext cx="3436768" cy="2950845"/>
          </a:xfrm>
          <a:prstGeom prst="rect">
            <a:avLst/>
          </a:prstGeom>
        </p:spPr>
        <p:txBody>
          <a:bodyPr lIns="0" tIns="0" rIns="0" bIns="0" rtlCol="0" anchor="t">
            <a:spAutoFit/>
          </a:bodyPr>
          <a:lstStyle/>
          <a:p>
            <a:pPr algn="ctr">
              <a:lnSpc>
                <a:spcPts val="4365"/>
              </a:lnSpc>
            </a:pPr>
            <a:r>
              <a:rPr lang="en-US" sz="26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en-US" sz="26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轻量化与可靠性矛盾</a:t>
            </a:r>
            <a:endParaRPr lang="en-US" sz="26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algn="just">
              <a:lnSpc>
                <a:spcPts val="2855"/>
              </a:lnSpc>
            </a:pPr>
          </a:p>
          <a:p>
            <a:pPr algn="just">
              <a:lnSpc>
                <a:spcPts val="2855"/>
              </a:lnSpc>
            </a:pPr>
          </a:p>
          <a:p>
            <a:pPr algn="just">
              <a:lnSpc>
                <a:spcPts val="3360"/>
              </a:lnSpc>
            </a:pPr>
            <a:r>
              <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传动系统在复杂工况下易因高扭矩载荷引发疲劳失效。</a:t>
            </a:r>
            <a:endPar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p>
        </p:txBody>
      </p:sp>
      <p:grpSp>
        <p:nvGrpSpPr>
          <p:cNvPr id="25" name="Group 25"/>
          <p:cNvGrpSpPr/>
          <p:nvPr/>
        </p:nvGrpSpPr>
        <p:grpSpPr>
          <a:xfrm rot="0">
            <a:off x="11866298" y="2957665"/>
            <a:ext cx="4394262" cy="929024"/>
            <a:chOff x="0" y="0"/>
            <a:chExt cx="1157336" cy="244681"/>
          </a:xfrm>
        </p:grpSpPr>
        <p:sp>
          <p:nvSpPr>
            <p:cNvPr id="26" name="Freeform 26"/>
            <p:cNvSpPr/>
            <p:nvPr/>
          </p:nvSpPr>
          <p:spPr>
            <a:xfrm>
              <a:off x="0" y="0"/>
              <a:ext cx="1157337" cy="244681"/>
            </a:xfrm>
            <a:custGeom>
              <a:avLst/>
              <a:gdLst/>
              <a:ahLst/>
              <a:cxnLst/>
              <a:rect l="l" t="t" r="r" b="b"/>
              <a:pathLst>
                <a:path w="1157337" h="244681">
                  <a:moveTo>
                    <a:pt x="0" y="0"/>
                  </a:moveTo>
                  <a:lnTo>
                    <a:pt x="1157337" y="0"/>
                  </a:lnTo>
                  <a:lnTo>
                    <a:pt x="1157337" y="244681"/>
                  </a:lnTo>
                  <a:lnTo>
                    <a:pt x="0" y="244681"/>
                  </a:lnTo>
                  <a:close/>
                </a:path>
              </a:pathLst>
            </a:custGeom>
            <a:solidFill>
              <a:srgbClr val="1F367F"/>
            </a:solidFill>
          </p:spPr>
        </p:sp>
        <p:sp>
          <p:nvSpPr>
            <p:cNvPr id="27" name="TextBox 27"/>
            <p:cNvSpPr txBox="1"/>
            <p:nvPr/>
          </p:nvSpPr>
          <p:spPr>
            <a:xfrm>
              <a:off x="0" y="-57150"/>
              <a:ext cx="1157336" cy="301831"/>
            </a:xfrm>
            <a:prstGeom prst="rect">
              <a:avLst/>
            </a:prstGeom>
          </p:spPr>
          <p:txBody>
            <a:bodyPr lIns="50800" tIns="50800" rIns="50800" bIns="50800" rtlCol="0" anchor="ctr"/>
            <a:lstStyle/>
            <a:p>
              <a:pPr algn="ctr">
                <a:lnSpc>
                  <a:spcPts val="3105"/>
                </a:lnSpc>
              </a:pPr>
            </a:p>
          </p:txBody>
        </p:sp>
      </p:grpSp>
      <p:sp>
        <p:nvSpPr>
          <p:cNvPr id="28" name="TextBox 28"/>
          <p:cNvSpPr txBox="1"/>
          <p:nvPr/>
        </p:nvSpPr>
        <p:spPr>
          <a:xfrm>
            <a:off x="12150935" y="3114710"/>
            <a:ext cx="382498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选题解决的核心问题三</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grpSp>
        <p:nvGrpSpPr>
          <p:cNvPr id="29" name="Group 29"/>
          <p:cNvGrpSpPr/>
          <p:nvPr/>
        </p:nvGrpSpPr>
        <p:grpSpPr>
          <a:xfrm rot="0">
            <a:off x="11866298" y="4037998"/>
            <a:ext cx="4394262" cy="4739582"/>
            <a:chOff x="0" y="0"/>
            <a:chExt cx="1157336" cy="1248285"/>
          </a:xfrm>
        </p:grpSpPr>
        <p:sp>
          <p:nvSpPr>
            <p:cNvPr id="30" name="Freeform 30"/>
            <p:cNvSpPr/>
            <p:nvPr/>
          </p:nvSpPr>
          <p:spPr>
            <a:xfrm>
              <a:off x="0" y="0"/>
              <a:ext cx="1157337" cy="1248285"/>
            </a:xfrm>
            <a:custGeom>
              <a:avLst/>
              <a:gdLst/>
              <a:ahLst/>
              <a:cxnLst/>
              <a:rect l="l" t="t" r="r" b="b"/>
              <a:pathLst>
                <a:path w="1157337" h="1248285">
                  <a:moveTo>
                    <a:pt x="0" y="0"/>
                  </a:moveTo>
                  <a:lnTo>
                    <a:pt x="1157337" y="0"/>
                  </a:lnTo>
                  <a:lnTo>
                    <a:pt x="1157337" y="1248285"/>
                  </a:lnTo>
                  <a:lnTo>
                    <a:pt x="0" y="1248285"/>
                  </a:lnTo>
                  <a:close/>
                </a:path>
              </a:pathLst>
            </a:custGeom>
            <a:solidFill>
              <a:srgbClr val="1F367F">
                <a:alpha val="10980"/>
              </a:srgbClr>
            </a:solidFill>
            <a:ln cap="sq">
              <a:noFill/>
              <a:prstDash val="solid"/>
              <a:miter/>
            </a:ln>
          </p:spPr>
        </p:sp>
        <p:sp>
          <p:nvSpPr>
            <p:cNvPr id="31" name="TextBox 31"/>
            <p:cNvSpPr txBox="1"/>
            <p:nvPr/>
          </p:nvSpPr>
          <p:spPr>
            <a:xfrm>
              <a:off x="0" y="-57150"/>
              <a:ext cx="1157336" cy="1305435"/>
            </a:xfrm>
            <a:prstGeom prst="rect">
              <a:avLst/>
            </a:prstGeom>
          </p:spPr>
          <p:txBody>
            <a:bodyPr lIns="50800" tIns="50800" rIns="50800" bIns="50800" rtlCol="0" anchor="ctr"/>
            <a:lstStyle/>
            <a:p>
              <a:pPr marL="0" lvl="0" indent="0" algn="ctr">
                <a:lnSpc>
                  <a:spcPts val="3105"/>
                </a:lnSpc>
                <a:spcBef>
                  <a:spcPct val="0"/>
                </a:spcBef>
              </a:pPr>
            </a:p>
          </p:txBody>
        </p:sp>
      </p:grpSp>
      <p:sp>
        <p:nvSpPr>
          <p:cNvPr id="32" name="TextBox 32"/>
          <p:cNvSpPr txBox="1"/>
          <p:nvPr/>
        </p:nvSpPr>
        <p:spPr>
          <a:xfrm>
            <a:off x="12345045" y="4477118"/>
            <a:ext cx="3436768" cy="2951480"/>
          </a:xfrm>
          <a:prstGeom prst="rect">
            <a:avLst/>
          </a:prstGeom>
        </p:spPr>
        <p:txBody>
          <a:bodyPr lIns="0" tIns="0" rIns="0" bIns="0" rtlCol="0" anchor="t">
            <a:spAutoFit/>
          </a:bodyPr>
          <a:lstStyle/>
          <a:p>
            <a:pPr algn="just">
              <a:lnSpc>
                <a:spcPts val="4370"/>
              </a:lnSpc>
            </a:pPr>
            <a:r>
              <a:rPr lang="en-US" sz="26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能量管理策略单一</a:t>
            </a:r>
            <a:endParaRPr lang="en-US" sz="26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algn="just">
              <a:lnSpc>
                <a:spcPts val="2855"/>
              </a:lnSpc>
            </a:pPr>
          </a:p>
          <a:p>
            <a:pPr algn="just">
              <a:lnSpc>
                <a:spcPts val="2855"/>
              </a:lnSpc>
            </a:pPr>
          </a:p>
          <a:p>
            <a:pPr algn="just">
              <a:lnSpc>
                <a:spcPts val="3360"/>
              </a:lnSpc>
            </a:pPr>
            <a:r>
              <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现有控制方法对工况变化的适应性较差，导致燃油经济性提升受限。</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700000">
            <a:off x="13156868" y="-2330570"/>
            <a:ext cx="4613749" cy="4613749"/>
            <a:chOff x="0" y="0"/>
            <a:chExt cx="1096342" cy="1096342"/>
          </a:xfrm>
        </p:grpSpPr>
        <p:sp>
          <p:nvSpPr>
            <p:cNvPr id="3" name="Freeform 3"/>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4" name="TextBox 4"/>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2700000">
            <a:off x="16098266" y="-640609"/>
            <a:ext cx="4613749" cy="4613749"/>
            <a:chOff x="0" y="0"/>
            <a:chExt cx="1096342" cy="1096342"/>
          </a:xfrm>
        </p:grpSpPr>
        <p:sp>
          <p:nvSpPr>
            <p:cNvPr id="6" name="Freeform 6"/>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7" name="TextBox 7"/>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2700000">
            <a:off x="16552021" y="3567807"/>
            <a:ext cx="2156443" cy="2156443"/>
            <a:chOff x="0" y="0"/>
            <a:chExt cx="512425" cy="512425"/>
          </a:xfrm>
        </p:grpSpPr>
        <p:sp>
          <p:nvSpPr>
            <p:cNvPr id="9" name="Freeform 9"/>
            <p:cNvSpPr/>
            <p:nvPr/>
          </p:nvSpPr>
          <p:spPr>
            <a:xfrm>
              <a:off x="0" y="0"/>
              <a:ext cx="512425" cy="512425"/>
            </a:xfrm>
            <a:custGeom>
              <a:avLst/>
              <a:gdLst/>
              <a:ahLst/>
              <a:cxnLst/>
              <a:rect l="l" t="t" r="r" b="b"/>
              <a:pathLst>
                <a:path w="512425" h="512425">
                  <a:moveTo>
                    <a:pt x="0" y="0"/>
                  </a:moveTo>
                  <a:lnTo>
                    <a:pt x="512425" y="0"/>
                  </a:lnTo>
                  <a:lnTo>
                    <a:pt x="512425" y="512425"/>
                  </a:lnTo>
                  <a:lnTo>
                    <a:pt x="0" y="512425"/>
                  </a:lnTo>
                  <a:close/>
                </a:path>
              </a:pathLst>
            </a:custGeom>
            <a:solidFill>
              <a:srgbClr val="1F367F">
                <a:alpha val="89804"/>
              </a:srgbClr>
            </a:solidFill>
          </p:spPr>
        </p:sp>
        <p:sp>
          <p:nvSpPr>
            <p:cNvPr id="10" name="TextBox 10"/>
            <p:cNvSpPr txBox="1"/>
            <p:nvPr/>
          </p:nvSpPr>
          <p:spPr>
            <a:xfrm>
              <a:off x="0" y="-47625"/>
              <a:ext cx="512425" cy="560050"/>
            </a:xfrm>
            <a:prstGeom prst="rect">
              <a:avLst/>
            </a:prstGeom>
          </p:spPr>
          <p:txBody>
            <a:bodyPr lIns="50800" tIns="50800" rIns="50800" bIns="50800" rtlCol="0" anchor="ctr"/>
            <a:lstStyle/>
            <a:p>
              <a:pPr algn="ctr">
                <a:lnSpc>
                  <a:spcPts val="3625"/>
                </a:lnSpc>
              </a:pPr>
            </a:p>
          </p:txBody>
        </p:sp>
      </p:grpSp>
      <p:grpSp>
        <p:nvGrpSpPr>
          <p:cNvPr id="11" name="Group 11"/>
          <p:cNvGrpSpPr/>
          <p:nvPr/>
        </p:nvGrpSpPr>
        <p:grpSpPr>
          <a:xfrm rot="8100000">
            <a:off x="-151656" y="9116145"/>
            <a:ext cx="4162673" cy="4162673"/>
            <a:chOff x="0" y="0"/>
            <a:chExt cx="1096342" cy="1096342"/>
          </a:xfrm>
        </p:grpSpPr>
        <p:sp>
          <p:nvSpPr>
            <p:cNvPr id="12" name="Freeform 12"/>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13" name="TextBox 13"/>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14" name="Group 14"/>
          <p:cNvGrpSpPr/>
          <p:nvPr/>
        </p:nvGrpSpPr>
        <p:grpSpPr>
          <a:xfrm rot="8100000">
            <a:off x="-2805480" y="7591408"/>
            <a:ext cx="4162673" cy="4162673"/>
            <a:chOff x="0" y="0"/>
            <a:chExt cx="1096342" cy="1096342"/>
          </a:xfrm>
        </p:grpSpPr>
        <p:sp>
          <p:nvSpPr>
            <p:cNvPr id="15" name="Freeform 15"/>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16" name="TextBox 16"/>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17" name="Group 17"/>
          <p:cNvGrpSpPr/>
          <p:nvPr/>
        </p:nvGrpSpPr>
        <p:grpSpPr>
          <a:xfrm rot="8100000">
            <a:off x="-997811" y="6011500"/>
            <a:ext cx="1945612" cy="1945612"/>
            <a:chOff x="0" y="0"/>
            <a:chExt cx="512425" cy="512425"/>
          </a:xfrm>
        </p:grpSpPr>
        <p:sp>
          <p:nvSpPr>
            <p:cNvPr id="18" name="Freeform 18"/>
            <p:cNvSpPr/>
            <p:nvPr/>
          </p:nvSpPr>
          <p:spPr>
            <a:xfrm>
              <a:off x="0" y="0"/>
              <a:ext cx="512425" cy="512425"/>
            </a:xfrm>
            <a:custGeom>
              <a:avLst/>
              <a:gdLst/>
              <a:ahLst/>
              <a:cxnLst/>
              <a:rect l="l" t="t" r="r" b="b"/>
              <a:pathLst>
                <a:path w="512425" h="512425">
                  <a:moveTo>
                    <a:pt x="0" y="0"/>
                  </a:moveTo>
                  <a:lnTo>
                    <a:pt x="512425" y="0"/>
                  </a:lnTo>
                  <a:lnTo>
                    <a:pt x="512425" y="512425"/>
                  </a:lnTo>
                  <a:lnTo>
                    <a:pt x="0" y="512425"/>
                  </a:lnTo>
                  <a:close/>
                </a:path>
              </a:pathLst>
            </a:custGeom>
            <a:solidFill>
              <a:srgbClr val="1F367F">
                <a:alpha val="89804"/>
              </a:srgbClr>
            </a:solidFill>
          </p:spPr>
        </p:sp>
        <p:sp>
          <p:nvSpPr>
            <p:cNvPr id="19" name="TextBox 19"/>
            <p:cNvSpPr txBox="1"/>
            <p:nvPr/>
          </p:nvSpPr>
          <p:spPr>
            <a:xfrm>
              <a:off x="0" y="-47625"/>
              <a:ext cx="512425" cy="560050"/>
            </a:xfrm>
            <a:prstGeom prst="rect">
              <a:avLst/>
            </a:prstGeom>
          </p:spPr>
          <p:txBody>
            <a:bodyPr lIns="50800" tIns="50800" rIns="50800" bIns="50800" rtlCol="0" anchor="ctr"/>
            <a:lstStyle/>
            <a:p>
              <a:pPr algn="ctr">
                <a:lnSpc>
                  <a:spcPts val="3625"/>
                </a:lnSpc>
              </a:pPr>
            </a:p>
          </p:txBody>
        </p:sp>
      </p:grpSp>
      <p:grpSp>
        <p:nvGrpSpPr>
          <p:cNvPr id="20" name="Group 20"/>
          <p:cNvGrpSpPr/>
          <p:nvPr/>
        </p:nvGrpSpPr>
        <p:grpSpPr>
          <a:xfrm rot="0">
            <a:off x="2672131" y="4857293"/>
            <a:ext cx="5687183" cy="494082"/>
            <a:chOff x="0" y="0"/>
            <a:chExt cx="1497859" cy="130129"/>
          </a:xfrm>
        </p:grpSpPr>
        <p:sp>
          <p:nvSpPr>
            <p:cNvPr id="21" name="Freeform 21"/>
            <p:cNvSpPr/>
            <p:nvPr/>
          </p:nvSpPr>
          <p:spPr>
            <a:xfrm>
              <a:off x="0" y="0"/>
              <a:ext cx="1497859" cy="130129"/>
            </a:xfrm>
            <a:custGeom>
              <a:avLst/>
              <a:gdLst/>
              <a:ahLst/>
              <a:cxnLst/>
              <a:rect l="l" t="t" r="r" b="b"/>
              <a:pathLst>
                <a:path w="1497859" h="130129">
                  <a:moveTo>
                    <a:pt x="0" y="0"/>
                  </a:moveTo>
                  <a:lnTo>
                    <a:pt x="1497859" y="0"/>
                  </a:lnTo>
                  <a:lnTo>
                    <a:pt x="1497859" y="130129"/>
                  </a:lnTo>
                  <a:lnTo>
                    <a:pt x="0" y="130129"/>
                  </a:lnTo>
                  <a:close/>
                </a:path>
              </a:pathLst>
            </a:custGeom>
            <a:solidFill>
              <a:srgbClr val="1F367F"/>
            </a:solidFill>
          </p:spPr>
        </p:sp>
        <p:sp>
          <p:nvSpPr>
            <p:cNvPr id="22" name="TextBox 22"/>
            <p:cNvSpPr txBox="1"/>
            <p:nvPr/>
          </p:nvSpPr>
          <p:spPr>
            <a:xfrm>
              <a:off x="0" y="-47625"/>
              <a:ext cx="1497859" cy="177754"/>
            </a:xfrm>
            <a:prstGeom prst="rect">
              <a:avLst/>
            </a:prstGeom>
          </p:spPr>
          <p:txBody>
            <a:bodyPr lIns="50800" tIns="50800" rIns="50800" bIns="50800" rtlCol="0" anchor="ctr"/>
            <a:lstStyle/>
            <a:p>
              <a:pPr algn="ctr">
                <a:lnSpc>
                  <a:spcPts val="3625"/>
                </a:lnSpc>
              </a:pPr>
            </a:p>
          </p:txBody>
        </p:sp>
      </p:grpSp>
      <p:sp>
        <p:nvSpPr>
          <p:cNvPr id="23" name="TextBox 23"/>
          <p:cNvSpPr txBox="1"/>
          <p:nvPr/>
        </p:nvSpPr>
        <p:spPr>
          <a:xfrm>
            <a:off x="2672131" y="3396728"/>
            <a:ext cx="8175336" cy="1306830"/>
          </a:xfrm>
          <a:prstGeom prst="rect">
            <a:avLst/>
          </a:prstGeom>
        </p:spPr>
        <p:txBody>
          <a:bodyPr lIns="0" tIns="0" rIns="0" bIns="0" rtlCol="0" anchor="t">
            <a:spAutoFit/>
          </a:bodyPr>
          <a:lstStyle/>
          <a:p>
            <a:pPr marL="0" lvl="0" indent="0" algn="l">
              <a:lnSpc>
                <a:spcPts val="10560"/>
              </a:lnSpc>
              <a:spcBef>
                <a:spcPct val="0"/>
              </a:spcBef>
            </a:pPr>
            <a:r>
              <a:rPr lang="en-US" sz="80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研究成果与展示</a:t>
            </a:r>
            <a:endParaRPr lang="en-US" sz="80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endParaRPr>
          </a:p>
        </p:txBody>
      </p:sp>
      <p:sp>
        <p:nvSpPr>
          <p:cNvPr id="24" name="TextBox 24"/>
          <p:cNvSpPr txBox="1"/>
          <p:nvPr/>
        </p:nvSpPr>
        <p:spPr>
          <a:xfrm>
            <a:off x="3041079" y="4923359"/>
            <a:ext cx="5318235"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FFFFFF"/>
                </a:solidFill>
                <a:latin typeface="Akzidenz-Grotesk" panose="02000503030000020003"/>
                <a:ea typeface="Akzidenz-Grotesk" panose="02000503030000020003"/>
                <a:cs typeface="Akzidenz-Grotesk" panose="02000503030000020003"/>
                <a:sym typeface="Akzidenz-Grotesk" panose="02000503030000020003"/>
              </a:rPr>
              <a:t>Research results and presentation</a:t>
            </a:r>
            <a:endParaRPr lang="en-US" sz="1900">
              <a:solidFill>
                <a:srgbClr val="FFFFFF"/>
              </a:solidFill>
              <a:latin typeface="Akzidenz-Grotesk" panose="02000503030000020003"/>
              <a:ea typeface="Akzidenz-Grotesk" panose="02000503030000020003"/>
              <a:cs typeface="Akzidenz-Grotesk" panose="02000503030000020003"/>
              <a:sym typeface="Akzidenz-Grotesk" panose="02000503030000020003"/>
            </a:endParaRPr>
          </a:p>
        </p:txBody>
      </p:sp>
      <p:sp>
        <p:nvSpPr>
          <p:cNvPr id="25" name="TextBox 25"/>
          <p:cNvSpPr txBox="1"/>
          <p:nvPr/>
        </p:nvSpPr>
        <p:spPr>
          <a:xfrm>
            <a:off x="10306389" y="3375547"/>
            <a:ext cx="4756725" cy="3267075"/>
          </a:xfrm>
          <a:prstGeom prst="rect">
            <a:avLst/>
          </a:prstGeom>
        </p:spPr>
        <p:txBody>
          <a:bodyPr lIns="0" tIns="0" rIns="0" bIns="0" rtlCol="0" anchor="t">
            <a:spAutoFit/>
          </a:bodyPr>
          <a:lstStyle/>
          <a:p>
            <a:pPr algn="r">
              <a:lnSpc>
                <a:spcPts val="22800"/>
              </a:lnSpc>
            </a:pPr>
            <a:r>
              <a:rPr lang="en-US" sz="190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rPr>
              <a:t>02.</a:t>
            </a:r>
            <a:endParaRPr lang="en-US" sz="190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pic>
        <p:nvPicPr>
          <p:cNvPr id="8" name="Picture 8"/>
          <p:cNvPicPr>
            <a:picLocks noChangeAspect="1"/>
          </p:cNvPicPr>
          <p:nvPr/>
        </p:nvPicPr>
        <p:blipFill>
          <a:blip r:embed="rId1"/>
          <a:stretch>
            <a:fillRect/>
          </a:stretch>
        </p:blipFill>
        <p:spPr>
          <a:xfrm>
            <a:off x="894428" y="2825465"/>
            <a:ext cx="1927801" cy="1124551"/>
          </a:xfrm>
          <a:prstGeom prst="rect">
            <a:avLst/>
          </a:prstGeom>
        </p:spPr>
      </p:pic>
      <p:pic>
        <p:nvPicPr>
          <p:cNvPr id="9" name="Picture 9"/>
          <p:cNvPicPr>
            <a:picLocks noChangeAspect="1"/>
          </p:cNvPicPr>
          <p:nvPr/>
        </p:nvPicPr>
        <p:blipFill>
          <a:blip r:embed="rId2"/>
          <a:stretch>
            <a:fillRect/>
          </a:stretch>
        </p:blipFill>
        <p:spPr>
          <a:xfrm>
            <a:off x="894428" y="4450486"/>
            <a:ext cx="1927801" cy="1124551"/>
          </a:xfrm>
          <a:prstGeom prst="rect">
            <a:avLst/>
          </a:prstGeom>
        </p:spPr>
      </p:pic>
      <p:pic>
        <p:nvPicPr>
          <p:cNvPr id="10" name="Picture 10"/>
          <p:cNvPicPr>
            <a:picLocks noChangeAspect="1"/>
          </p:cNvPicPr>
          <p:nvPr/>
        </p:nvPicPr>
        <p:blipFill>
          <a:blip r:embed="rId3"/>
          <a:stretch>
            <a:fillRect/>
          </a:stretch>
        </p:blipFill>
        <p:spPr>
          <a:xfrm>
            <a:off x="894428" y="6075508"/>
            <a:ext cx="1927801" cy="1124551"/>
          </a:xfrm>
          <a:prstGeom prst="rect">
            <a:avLst/>
          </a:prstGeom>
        </p:spPr>
      </p:pic>
      <p:pic>
        <p:nvPicPr>
          <p:cNvPr id="11" name="Picture 11"/>
          <p:cNvPicPr>
            <a:picLocks noChangeAspect="1"/>
          </p:cNvPicPr>
          <p:nvPr/>
        </p:nvPicPr>
        <p:blipFill>
          <a:blip r:embed="rId4"/>
          <a:stretch>
            <a:fillRect/>
          </a:stretch>
        </p:blipFill>
        <p:spPr>
          <a:xfrm>
            <a:off x="894428" y="7700529"/>
            <a:ext cx="1927801" cy="1124551"/>
          </a:xfrm>
          <a:prstGeom prst="rect">
            <a:avLst/>
          </a:prstGeom>
        </p:spPr>
      </p:pic>
      <p:grpSp>
        <p:nvGrpSpPr>
          <p:cNvPr id="12" name="Group 12"/>
          <p:cNvGrpSpPr/>
          <p:nvPr/>
        </p:nvGrpSpPr>
        <p:grpSpPr>
          <a:xfrm rot="0">
            <a:off x="3044317" y="2801952"/>
            <a:ext cx="6737699" cy="1171575"/>
            <a:chOff x="0" y="0"/>
            <a:chExt cx="1774538" cy="308563"/>
          </a:xfrm>
        </p:grpSpPr>
        <p:sp>
          <p:nvSpPr>
            <p:cNvPr id="13" name="Freeform 13"/>
            <p:cNvSpPr/>
            <p:nvPr/>
          </p:nvSpPr>
          <p:spPr>
            <a:xfrm>
              <a:off x="0" y="0"/>
              <a:ext cx="1774538" cy="308563"/>
            </a:xfrm>
            <a:custGeom>
              <a:avLst/>
              <a:gdLst/>
              <a:ahLst/>
              <a:cxnLst/>
              <a:rect l="l" t="t" r="r" b="b"/>
              <a:pathLst>
                <a:path w="1774538" h="308563">
                  <a:moveTo>
                    <a:pt x="0" y="0"/>
                  </a:moveTo>
                  <a:lnTo>
                    <a:pt x="1774538" y="0"/>
                  </a:lnTo>
                  <a:lnTo>
                    <a:pt x="1774538" y="308563"/>
                  </a:lnTo>
                  <a:lnTo>
                    <a:pt x="0" y="308563"/>
                  </a:lnTo>
                  <a:close/>
                </a:path>
              </a:pathLst>
            </a:custGeom>
            <a:solidFill>
              <a:srgbClr val="1F367F"/>
            </a:solidFill>
          </p:spPr>
        </p:sp>
        <p:sp>
          <p:nvSpPr>
            <p:cNvPr id="14" name="TextBox 14"/>
            <p:cNvSpPr txBox="1"/>
            <p:nvPr/>
          </p:nvSpPr>
          <p:spPr>
            <a:xfrm>
              <a:off x="0" y="-57150"/>
              <a:ext cx="1774538" cy="365713"/>
            </a:xfrm>
            <a:prstGeom prst="rect">
              <a:avLst/>
            </a:prstGeom>
          </p:spPr>
          <p:txBody>
            <a:bodyPr lIns="50800" tIns="50800" rIns="50800" bIns="50800" rtlCol="0" anchor="ctr"/>
            <a:lstStyle/>
            <a:p>
              <a:pPr algn="ctr">
                <a:lnSpc>
                  <a:spcPts val="3105"/>
                </a:lnSpc>
              </a:pPr>
            </a:p>
          </p:txBody>
        </p:sp>
      </p:grpSp>
      <p:grpSp>
        <p:nvGrpSpPr>
          <p:cNvPr id="15" name="Group 15"/>
          <p:cNvGrpSpPr/>
          <p:nvPr/>
        </p:nvGrpSpPr>
        <p:grpSpPr>
          <a:xfrm rot="0">
            <a:off x="3044317" y="4426974"/>
            <a:ext cx="6737699" cy="1171575"/>
            <a:chOff x="0" y="0"/>
            <a:chExt cx="1774538" cy="308563"/>
          </a:xfrm>
        </p:grpSpPr>
        <p:sp>
          <p:nvSpPr>
            <p:cNvPr id="16" name="Freeform 16"/>
            <p:cNvSpPr/>
            <p:nvPr/>
          </p:nvSpPr>
          <p:spPr>
            <a:xfrm>
              <a:off x="0" y="0"/>
              <a:ext cx="1774538" cy="308563"/>
            </a:xfrm>
            <a:custGeom>
              <a:avLst/>
              <a:gdLst/>
              <a:ahLst/>
              <a:cxnLst/>
              <a:rect l="l" t="t" r="r" b="b"/>
              <a:pathLst>
                <a:path w="1774538" h="308563">
                  <a:moveTo>
                    <a:pt x="0" y="0"/>
                  </a:moveTo>
                  <a:lnTo>
                    <a:pt x="1774538" y="0"/>
                  </a:lnTo>
                  <a:lnTo>
                    <a:pt x="1774538" y="308563"/>
                  </a:lnTo>
                  <a:lnTo>
                    <a:pt x="0" y="308563"/>
                  </a:lnTo>
                  <a:close/>
                </a:path>
              </a:pathLst>
            </a:custGeom>
            <a:solidFill>
              <a:srgbClr val="4660AF"/>
            </a:solidFill>
          </p:spPr>
        </p:sp>
        <p:sp>
          <p:nvSpPr>
            <p:cNvPr id="17" name="TextBox 17"/>
            <p:cNvSpPr txBox="1"/>
            <p:nvPr/>
          </p:nvSpPr>
          <p:spPr>
            <a:xfrm>
              <a:off x="0" y="-57150"/>
              <a:ext cx="1774538" cy="365713"/>
            </a:xfrm>
            <a:prstGeom prst="rect">
              <a:avLst/>
            </a:prstGeom>
          </p:spPr>
          <p:txBody>
            <a:bodyPr lIns="50800" tIns="50800" rIns="50800" bIns="50800" rtlCol="0" anchor="ctr"/>
            <a:lstStyle/>
            <a:p>
              <a:pPr algn="ctr">
                <a:lnSpc>
                  <a:spcPts val="3105"/>
                </a:lnSpc>
              </a:pPr>
            </a:p>
          </p:txBody>
        </p:sp>
      </p:grpSp>
      <p:grpSp>
        <p:nvGrpSpPr>
          <p:cNvPr id="18" name="Group 18"/>
          <p:cNvGrpSpPr/>
          <p:nvPr/>
        </p:nvGrpSpPr>
        <p:grpSpPr>
          <a:xfrm rot="0">
            <a:off x="3044317" y="6051996"/>
            <a:ext cx="6737699" cy="1171575"/>
            <a:chOff x="0" y="0"/>
            <a:chExt cx="1774538" cy="308563"/>
          </a:xfrm>
        </p:grpSpPr>
        <p:sp>
          <p:nvSpPr>
            <p:cNvPr id="19" name="Freeform 19"/>
            <p:cNvSpPr/>
            <p:nvPr/>
          </p:nvSpPr>
          <p:spPr>
            <a:xfrm>
              <a:off x="0" y="0"/>
              <a:ext cx="1774538" cy="308563"/>
            </a:xfrm>
            <a:custGeom>
              <a:avLst/>
              <a:gdLst/>
              <a:ahLst/>
              <a:cxnLst/>
              <a:rect l="l" t="t" r="r" b="b"/>
              <a:pathLst>
                <a:path w="1774538" h="308563">
                  <a:moveTo>
                    <a:pt x="0" y="0"/>
                  </a:moveTo>
                  <a:lnTo>
                    <a:pt x="1774538" y="0"/>
                  </a:lnTo>
                  <a:lnTo>
                    <a:pt x="1774538" y="308563"/>
                  </a:lnTo>
                  <a:lnTo>
                    <a:pt x="0" y="308563"/>
                  </a:lnTo>
                  <a:close/>
                </a:path>
              </a:pathLst>
            </a:custGeom>
            <a:solidFill>
              <a:srgbClr val="1F367F"/>
            </a:solidFill>
          </p:spPr>
        </p:sp>
        <p:sp>
          <p:nvSpPr>
            <p:cNvPr id="20" name="TextBox 20"/>
            <p:cNvSpPr txBox="1"/>
            <p:nvPr/>
          </p:nvSpPr>
          <p:spPr>
            <a:xfrm>
              <a:off x="0" y="-57150"/>
              <a:ext cx="1774538" cy="365713"/>
            </a:xfrm>
            <a:prstGeom prst="rect">
              <a:avLst/>
            </a:prstGeom>
          </p:spPr>
          <p:txBody>
            <a:bodyPr lIns="50800" tIns="50800" rIns="50800" bIns="50800" rtlCol="0" anchor="ctr"/>
            <a:lstStyle/>
            <a:p>
              <a:pPr algn="ctr">
                <a:lnSpc>
                  <a:spcPts val="3105"/>
                </a:lnSpc>
              </a:pPr>
            </a:p>
          </p:txBody>
        </p:sp>
      </p:grpSp>
      <p:grpSp>
        <p:nvGrpSpPr>
          <p:cNvPr id="21" name="Group 21"/>
          <p:cNvGrpSpPr/>
          <p:nvPr/>
        </p:nvGrpSpPr>
        <p:grpSpPr>
          <a:xfrm rot="0">
            <a:off x="3044317" y="7677017"/>
            <a:ext cx="6737699" cy="1171575"/>
            <a:chOff x="0" y="0"/>
            <a:chExt cx="1774538" cy="308563"/>
          </a:xfrm>
        </p:grpSpPr>
        <p:sp>
          <p:nvSpPr>
            <p:cNvPr id="22" name="Freeform 22"/>
            <p:cNvSpPr/>
            <p:nvPr/>
          </p:nvSpPr>
          <p:spPr>
            <a:xfrm>
              <a:off x="0" y="0"/>
              <a:ext cx="1774538" cy="308563"/>
            </a:xfrm>
            <a:custGeom>
              <a:avLst/>
              <a:gdLst/>
              <a:ahLst/>
              <a:cxnLst/>
              <a:rect l="l" t="t" r="r" b="b"/>
              <a:pathLst>
                <a:path w="1774538" h="308563">
                  <a:moveTo>
                    <a:pt x="0" y="0"/>
                  </a:moveTo>
                  <a:lnTo>
                    <a:pt x="1774538" y="0"/>
                  </a:lnTo>
                  <a:lnTo>
                    <a:pt x="1774538" y="308563"/>
                  </a:lnTo>
                  <a:lnTo>
                    <a:pt x="0" y="308563"/>
                  </a:lnTo>
                  <a:close/>
                </a:path>
              </a:pathLst>
            </a:custGeom>
            <a:solidFill>
              <a:srgbClr val="4660AF"/>
            </a:solidFill>
          </p:spPr>
        </p:sp>
        <p:sp>
          <p:nvSpPr>
            <p:cNvPr id="23" name="TextBox 23"/>
            <p:cNvSpPr txBox="1"/>
            <p:nvPr/>
          </p:nvSpPr>
          <p:spPr>
            <a:xfrm>
              <a:off x="0" y="-57150"/>
              <a:ext cx="1774538" cy="365713"/>
            </a:xfrm>
            <a:prstGeom prst="rect">
              <a:avLst/>
            </a:prstGeom>
          </p:spPr>
          <p:txBody>
            <a:bodyPr lIns="50800" tIns="50800" rIns="50800" bIns="50800" rtlCol="0" anchor="ctr"/>
            <a:lstStyle/>
            <a:p>
              <a:pPr algn="ctr">
                <a:lnSpc>
                  <a:spcPts val="3105"/>
                </a:lnSpc>
              </a:pPr>
            </a:p>
          </p:txBody>
        </p:sp>
      </p:grpSp>
      <p:grpSp>
        <p:nvGrpSpPr>
          <p:cNvPr id="24" name="Group 24"/>
          <p:cNvGrpSpPr/>
          <p:nvPr/>
        </p:nvGrpSpPr>
        <p:grpSpPr>
          <a:xfrm rot="0">
            <a:off x="10167253" y="2801952"/>
            <a:ext cx="7678703" cy="3039236"/>
            <a:chOff x="0" y="0"/>
            <a:chExt cx="11614290" cy="4596944"/>
          </a:xfrm>
        </p:grpSpPr>
        <p:sp>
          <p:nvSpPr>
            <p:cNvPr id="25" name="Freeform 25"/>
            <p:cNvSpPr/>
            <p:nvPr/>
          </p:nvSpPr>
          <p:spPr>
            <a:xfrm>
              <a:off x="0" y="0"/>
              <a:ext cx="11614290" cy="4597007"/>
            </a:xfrm>
            <a:custGeom>
              <a:avLst/>
              <a:gdLst/>
              <a:ahLst/>
              <a:cxnLst/>
              <a:rect l="l" t="t" r="r" b="b"/>
              <a:pathLst>
                <a:path w="11614290" h="4597007">
                  <a:moveTo>
                    <a:pt x="0" y="0"/>
                  </a:moveTo>
                  <a:lnTo>
                    <a:pt x="11614290" y="0"/>
                  </a:lnTo>
                  <a:lnTo>
                    <a:pt x="11614290" y="4597007"/>
                  </a:lnTo>
                  <a:lnTo>
                    <a:pt x="0" y="4597007"/>
                  </a:lnTo>
                </a:path>
              </a:pathLst>
            </a:custGeom>
            <a:blipFill>
              <a:blip r:embed="rId5"/>
              <a:stretch>
                <a:fillRect l="-2424" r="-2424"/>
              </a:stretch>
            </a:blipFill>
          </p:spPr>
        </p:sp>
      </p:grpSp>
      <p:grpSp>
        <p:nvGrpSpPr>
          <p:cNvPr id="26" name="Group 26"/>
          <p:cNvGrpSpPr/>
          <p:nvPr/>
        </p:nvGrpSpPr>
        <p:grpSpPr>
          <a:xfrm rot="0">
            <a:off x="10167253" y="5867833"/>
            <a:ext cx="7678703" cy="2796597"/>
            <a:chOff x="0" y="0"/>
            <a:chExt cx="12621974" cy="4596944"/>
          </a:xfrm>
        </p:grpSpPr>
        <p:sp>
          <p:nvSpPr>
            <p:cNvPr id="27" name="Freeform 27"/>
            <p:cNvSpPr/>
            <p:nvPr/>
          </p:nvSpPr>
          <p:spPr>
            <a:xfrm>
              <a:off x="0" y="0"/>
              <a:ext cx="12621974" cy="4597007"/>
            </a:xfrm>
            <a:custGeom>
              <a:avLst/>
              <a:gdLst/>
              <a:ahLst/>
              <a:cxnLst/>
              <a:rect l="l" t="t" r="r" b="b"/>
              <a:pathLst>
                <a:path w="12621974" h="4597007">
                  <a:moveTo>
                    <a:pt x="0" y="0"/>
                  </a:moveTo>
                  <a:lnTo>
                    <a:pt x="12621974" y="0"/>
                  </a:lnTo>
                  <a:lnTo>
                    <a:pt x="12621974" y="4597007"/>
                  </a:lnTo>
                  <a:lnTo>
                    <a:pt x="0" y="4597007"/>
                  </a:lnTo>
                </a:path>
              </a:pathLst>
            </a:custGeom>
            <a:blipFill>
              <a:blip r:embed="rId6"/>
              <a:stretch>
                <a:fillRect l="-409" r="-409"/>
              </a:stretch>
            </a:blipFill>
          </p:spPr>
        </p:sp>
      </p:grpSp>
      <p:sp>
        <p:nvSpPr>
          <p:cNvPr id="28" name="TextBox 28"/>
          <p:cNvSpPr txBox="1"/>
          <p:nvPr/>
        </p:nvSpPr>
        <p:spPr>
          <a:xfrm>
            <a:off x="1421452" y="595312"/>
            <a:ext cx="5576065"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研究成果与展示</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29" name="TextBox 29"/>
          <p:cNvSpPr txBox="1"/>
          <p:nvPr/>
        </p:nvSpPr>
        <p:spPr>
          <a:xfrm>
            <a:off x="2982930" y="3089798"/>
            <a:ext cx="6860473"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汽车动力系统整体布置及动力分配策略制定</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30" name="TextBox 30"/>
          <p:cNvSpPr txBox="1"/>
          <p:nvPr/>
        </p:nvSpPr>
        <p:spPr>
          <a:xfrm>
            <a:off x="3044317" y="4714820"/>
            <a:ext cx="673769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动力耦合器结构设计</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31" name="TextBox 31"/>
          <p:cNvSpPr txBox="1"/>
          <p:nvPr/>
        </p:nvSpPr>
        <p:spPr>
          <a:xfrm>
            <a:off x="3044317" y="6339842"/>
            <a:ext cx="673769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四轮驱动分动器结构设计</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32" name="TextBox 32"/>
          <p:cNvSpPr txBox="1"/>
          <p:nvPr/>
        </p:nvSpPr>
        <p:spPr>
          <a:xfrm>
            <a:off x="3044317" y="7964863"/>
            <a:ext cx="6737699"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传动装置结构设计</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0" y="3140632"/>
            <a:ext cx="11216539" cy="5555359"/>
            <a:chOff x="0" y="0"/>
            <a:chExt cx="68372888" cy="33863915"/>
          </a:xfrm>
        </p:grpSpPr>
        <p:sp>
          <p:nvSpPr>
            <p:cNvPr id="9" name="Freeform 9"/>
            <p:cNvSpPr/>
            <p:nvPr/>
          </p:nvSpPr>
          <p:spPr>
            <a:xfrm>
              <a:off x="0" y="0"/>
              <a:ext cx="68372899" cy="33863905"/>
            </a:xfrm>
            <a:custGeom>
              <a:avLst/>
              <a:gdLst/>
              <a:ahLst/>
              <a:cxnLst/>
              <a:rect l="l" t="t" r="r" b="b"/>
              <a:pathLst>
                <a:path w="68372899" h="33863905">
                  <a:moveTo>
                    <a:pt x="0" y="0"/>
                  </a:moveTo>
                  <a:lnTo>
                    <a:pt x="68372899" y="0"/>
                  </a:lnTo>
                  <a:lnTo>
                    <a:pt x="68372899" y="33863905"/>
                  </a:lnTo>
                  <a:lnTo>
                    <a:pt x="0" y="33863905"/>
                  </a:lnTo>
                </a:path>
              </a:pathLst>
            </a:custGeom>
            <a:blipFill>
              <a:blip r:embed="rId1"/>
              <a:stretch>
                <a:fillRect l="-6929" r="-6929"/>
              </a:stretch>
            </a:blipFill>
          </p:spPr>
        </p:sp>
      </p:grpSp>
      <p:grpSp>
        <p:nvGrpSpPr>
          <p:cNvPr id="10" name="Group 10"/>
          <p:cNvGrpSpPr/>
          <p:nvPr/>
        </p:nvGrpSpPr>
        <p:grpSpPr>
          <a:xfrm rot="0">
            <a:off x="11216539" y="2101839"/>
            <a:ext cx="7071461" cy="8185161"/>
            <a:chOff x="0" y="0"/>
            <a:chExt cx="1862443" cy="2155762"/>
          </a:xfrm>
        </p:grpSpPr>
        <p:sp>
          <p:nvSpPr>
            <p:cNvPr id="11" name="Freeform 11"/>
            <p:cNvSpPr/>
            <p:nvPr/>
          </p:nvSpPr>
          <p:spPr>
            <a:xfrm>
              <a:off x="0" y="0"/>
              <a:ext cx="1862443" cy="2155762"/>
            </a:xfrm>
            <a:custGeom>
              <a:avLst/>
              <a:gdLst/>
              <a:ahLst/>
              <a:cxnLst/>
              <a:rect l="l" t="t" r="r" b="b"/>
              <a:pathLst>
                <a:path w="1862443" h="2155762">
                  <a:moveTo>
                    <a:pt x="0" y="0"/>
                  </a:moveTo>
                  <a:lnTo>
                    <a:pt x="1862443" y="0"/>
                  </a:lnTo>
                  <a:lnTo>
                    <a:pt x="1862443" y="2155762"/>
                  </a:lnTo>
                  <a:lnTo>
                    <a:pt x="0" y="2155762"/>
                  </a:lnTo>
                  <a:close/>
                </a:path>
              </a:pathLst>
            </a:custGeom>
            <a:solidFill>
              <a:srgbClr val="1F367F"/>
            </a:solidFill>
            <a:ln cap="sq">
              <a:noFill/>
              <a:prstDash val="solid"/>
              <a:miter/>
            </a:ln>
          </p:spPr>
        </p:sp>
        <p:sp>
          <p:nvSpPr>
            <p:cNvPr id="12" name="TextBox 12"/>
            <p:cNvSpPr txBox="1"/>
            <p:nvPr/>
          </p:nvSpPr>
          <p:spPr>
            <a:xfrm>
              <a:off x="0" y="-38100"/>
              <a:ext cx="1862443" cy="2193862"/>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TextBox 13"/>
          <p:cNvSpPr txBox="1"/>
          <p:nvPr/>
        </p:nvSpPr>
        <p:spPr>
          <a:xfrm>
            <a:off x="1421452" y="595312"/>
            <a:ext cx="5576065"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研究成果与展示</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14" name="TextBox 14"/>
          <p:cNvSpPr txBox="1"/>
          <p:nvPr/>
        </p:nvSpPr>
        <p:spPr>
          <a:xfrm>
            <a:off x="11822838" y="3695629"/>
            <a:ext cx="5956929" cy="6829425"/>
          </a:xfrm>
          <a:prstGeom prst="rect">
            <a:avLst/>
          </a:prstGeom>
        </p:spPr>
        <p:txBody>
          <a:bodyPr lIns="0" tIns="0" rIns="0" bIns="0" rtlCol="0" anchor="t">
            <a:spAutoFit/>
          </a:bodyPr>
          <a:lstStyle/>
          <a:p>
            <a:pPr algn="just">
              <a:lnSpc>
                <a:spcPts val="3360"/>
              </a:lnSpc>
            </a:pPr>
            <a:r>
              <a:rPr lang="en-US" sz="22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汽车功率参数设计：</a:t>
            </a:r>
            <a:endParaRPr lang="en-US" sz="22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algn="just">
              <a:lnSpc>
                <a:spcPts val="3360"/>
              </a:lnSpc>
            </a:pPr>
            <a:r>
              <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最高车速下整车最大总功率（额定功率）：125kW</a:t>
            </a:r>
            <a:endPar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360"/>
              </a:lnSpc>
            </a:pPr>
            <a:r>
              <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最大加速度加速到100km/h工况下整车功率：300kW</a:t>
            </a:r>
            <a:endPar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360"/>
              </a:lnSpc>
            </a:pPr>
            <a:r>
              <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60km/h速度匀速爬坡度30%坡工况下整车功率：185kW</a:t>
            </a:r>
            <a:endPar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360"/>
              </a:lnSpc>
            </a:pPr>
            <a:endParaRPr sz="2200"/>
          </a:p>
          <a:p>
            <a:pPr algn="just">
              <a:lnSpc>
                <a:spcPts val="3360"/>
              </a:lnSpc>
            </a:pPr>
            <a:r>
              <a:rPr lang="en-US" sz="22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扭矩分配比例：</a:t>
            </a:r>
            <a:endParaRPr lang="en-US" sz="22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algn="just">
              <a:lnSpc>
                <a:spcPts val="3360"/>
              </a:lnSpc>
            </a:pPr>
            <a:r>
              <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前后轴扭矩分配比：60%:40%</a:t>
            </a:r>
            <a:endPar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360"/>
              </a:lnSpc>
            </a:pPr>
            <a:endParaRPr sz="2200"/>
          </a:p>
          <a:p>
            <a:pPr algn="just">
              <a:lnSpc>
                <a:spcPts val="3360"/>
              </a:lnSpc>
            </a:pPr>
            <a:r>
              <a:rPr lang="en-US" sz="22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动力分配策略：</a:t>
            </a:r>
            <a:endParaRPr lang="en-US" sz="22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algn="just">
              <a:lnSpc>
                <a:spcPts val="3360"/>
              </a:lnSpc>
            </a:pPr>
            <a:r>
              <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纯电模式策略</a:t>
            </a:r>
            <a:endPar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360"/>
              </a:lnSpc>
            </a:pPr>
            <a:r>
              <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混联模式策略</a:t>
            </a:r>
            <a:endPar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360"/>
              </a:lnSpc>
            </a:pPr>
            <a:r>
              <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能量回收策略</a:t>
            </a:r>
            <a:endPar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endParaRPr lang="en-US" sz="22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15" name="TextBox 15"/>
          <p:cNvSpPr txBox="1"/>
          <p:nvPr/>
        </p:nvSpPr>
        <p:spPr>
          <a:xfrm>
            <a:off x="11314604" y="2630727"/>
            <a:ext cx="6973396" cy="510158"/>
          </a:xfrm>
          <a:prstGeom prst="rect">
            <a:avLst/>
          </a:prstGeom>
        </p:spPr>
        <p:txBody>
          <a:bodyPr lIns="0" tIns="0" rIns="0" bIns="0" rtlCol="0" anchor="t">
            <a:spAutoFit/>
          </a:bodyPr>
          <a:lstStyle/>
          <a:p>
            <a:pPr algn="l">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汽车动力系统整体布置及动力分配策略制定</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10944044" y="3140632"/>
            <a:ext cx="7343956" cy="5555359"/>
            <a:chOff x="0" y="0"/>
            <a:chExt cx="44766706" cy="33863915"/>
          </a:xfrm>
        </p:grpSpPr>
        <p:sp>
          <p:nvSpPr>
            <p:cNvPr id="9" name="Freeform 9"/>
            <p:cNvSpPr/>
            <p:nvPr/>
          </p:nvSpPr>
          <p:spPr>
            <a:xfrm>
              <a:off x="0" y="0"/>
              <a:ext cx="44766719" cy="33863905"/>
            </a:xfrm>
            <a:custGeom>
              <a:avLst/>
              <a:gdLst/>
              <a:ahLst/>
              <a:cxnLst/>
              <a:rect l="l" t="t" r="r" b="b"/>
              <a:pathLst>
                <a:path w="44766719" h="33863905">
                  <a:moveTo>
                    <a:pt x="0" y="0"/>
                  </a:moveTo>
                  <a:lnTo>
                    <a:pt x="44766719" y="0"/>
                  </a:lnTo>
                  <a:lnTo>
                    <a:pt x="44766719" y="33863905"/>
                  </a:lnTo>
                  <a:lnTo>
                    <a:pt x="0" y="33863905"/>
                  </a:lnTo>
                </a:path>
              </a:pathLst>
            </a:custGeom>
            <a:blipFill>
              <a:blip r:embed="rId1"/>
              <a:stretch>
                <a:fillRect l="-234" r="-234"/>
              </a:stretch>
            </a:blipFill>
          </p:spPr>
        </p:sp>
      </p:grpSp>
      <p:grpSp>
        <p:nvGrpSpPr>
          <p:cNvPr id="10" name="Group 10"/>
          <p:cNvGrpSpPr/>
          <p:nvPr/>
        </p:nvGrpSpPr>
        <p:grpSpPr>
          <a:xfrm rot="0">
            <a:off x="0" y="3140632"/>
            <a:ext cx="10944044" cy="5555359"/>
            <a:chOff x="0" y="0"/>
            <a:chExt cx="2882382" cy="1463140"/>
          </a:xfrm>
        </p:grpSpPr>
        <p:sp>
          <p:nvSpPr>
            <p:cNvPr id="11" name="Freeform 11"/>
            <p:cNvSpPr/>
            <p:nvPr/>
          </p:nvSpPr>
          <p:spPr>
            <a:xfrm>
              <a:off x="0" y="0"/>
              <a:ext cx="2882382" cy="1463140"/>
            </a:xfrm>
            <a:custGeom>
              <a:avLst/>
              <a:gdLst/>
              <a:ahLst/>
              <a:cxnLst/>
              <a:rect l="l" t="t" r="r" b="b"/>
              <a:pathLst>
                <a:path w="2882382" h="1463140">
                  <a:moveTo>
                    <a:pt x="0" y="0"/>
                  </a:moveTo>
                  <a:lnTo>
                    <a:pt x="2882382" y="0"/>
                  </a:lnTo>
                  <a:lnTo>
                    <a:pt x="2882382" y="1463140"/>
                  </a:lnTo>
                  <a:lnTo>
                    <a:pt x="0" y="1463140"/>
                  </a:lnTo>
                  <a:close/>
                </a:path>
              </a:pathLst>
            </a:custGeom>
            <a:solidFill>
              <a:srgbClr val="1F367F"/>
            </a:solidFill>
            <a:ln cap="sq">
              <a:noFill/>
              <a:prstDash val="solid"/>
              <a:miter/>
            </a:ln>
          </p:spPr>
        </p:sp>
        <p:sp>
          <p:nvSpPr>
            <p:cNvPr id="12" name="TextBox 12"/>
            <p:cNvSpPr txBox="1"/>
            <p:nvPr/>
          </p:nvSpPr>
          <p:spPr>
            <a:xfrm>
              <a:off x="0" y="-38100"/>
              <a:ext cx="2882382" cy="1501240"/>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Freeform 13"/>
          <p:cNvSpPr/>
          <p:nvPr/>
        </p:nvSpPr>
        <p:spPr>
          <a:xfrm>
            <a:off x="0" y="4586598"/>
            <a:ext cx="10944044" cy="3242173"/>
          </a:xfrm>
          <a:custGeom>
            <a:avLst/>
            <a:gdLst/>
            <a:ahLst/>
            <a:cxnLst/>
            <a:rect l="l" t="t" r="r" b="b"/>
            <a:pathLst>
              <a:path w="10944044" h="3242173">
                <a:moveTo>
                  <a:pt x="0" y="0"/>
                </a:moveTo>
                <a:lnTo>
                  <a:pt x="10944044" y="0"/>
                </a:lnTo>
                <a:lnTo>
                  <a:pt x="10944044" y="3242173"/>
                </a:lnTo>
                <a:lnTo>
                  <a:pt x="0" y="3242173"/>
                </a:lnTo>
                <a:lnTo>
                  <a:pt x="0" y="0"/>
                </a:lnTo>
                <a:close/>
              </a:path>
            </a:pathLst>
          </a:custGeom>
          <a:blipFill>
            <a:blip r:embed="rId2"/>
            <a:stretch>
              <a:fillRect/>
            </a:stretch>
          </a:blipFill>
        </p:spPr>
      </p:sp>
      <p:sp>
        <p:nvSpPr>
          <p:cNvPr id="14" name="TextBox 14"/>
          <p:cNvSpPr txBox="1"/>
          <p:nvPr/>
        </p:nvSpPr>
        <p:spPr>
          <a:xfrm>
            <a:off x="1421452" y="595312"/>
            <a:ext cx="5576065"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研究成果与展示</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15" name="TextBox 15"/>
          <p:cNvSpPr txBox="1"/>
          <p:nvPr/>
        </p:nvSpPr>
        <p:spPr>
          <a:xfrm>
            <a:off x="370981" y="3571260"/>
            <a:ext cx="3125551" cy="510158"/>
          </a:xfrm>
          <a:prstGeom prst="rect">
            <a:avLst/>
          </a:prstGeom>
        </p:spPr>
        <p:txBody>
          <a:bodyPr lIns="0" tIns="0" rIns="0" bIns="0" rtlCol="0" anchor="t">
            <a:spAutoFit/>
          </a:bodyPr>
          <a:lstStyle/>
          <a:p>
            <a:pPr algn="l">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动力分配策略</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0" y="4859165"/>
            <a:ext cx="18288000" cy="4609280"/>
            <a:chOff x="0" y="0"/>
            <a:chExt cx="4816593" cy="1213967"/>
          </a:xfrm>
        </p:grpSpPr>
        <p:sp>
          <p:nvSpPr>
            <p:cNvPr id="9" name="Freeform 9"/>
            <p:cNvSpPr/>
            <p:nvPr/>
          </p:nvSpPr>
          <p:spPr>
            <a:xfrm>
              <a:off x="0" y="0"/>
              <a:ext cx="4816592" cy="1213967"/>
            </a:xfrm>
            <a:custGeom>
              <a:avLst/>
              <a:gdLst/>
              <a:ahLst/>
              <a:cxnLst/>
              <a:rect l="l" t="t" r="r" b="b"/>
              <a:pathLst>
                <a:path w="4816592" h="1213967">
                  <a:moveTo>
                    <a:pt x="0" y="0"/>
                  </a:moveTo>
                  <a:lnTo>
                    <a:pt x="4816592" y="0"/>
                  </a:lnTo>
                  <a:lnTo>
                    <a:pt x="4816592" y="1213967"/>
                  </a:lnTo>
                  <a:lnTo>
                    <a:pt x="0" y="1213967"/>
                  </a:lnTo>
                  <a:close/>
                </a:path>
              </a:pathLst>
            </a:custGeom>
            <a:solidFill>
              <a:srgbClr val="1F367F"/>
            </a:solidFill>
          </p:spPr>
        </p:sp>
        <p:sp>
          <p:nvSpPr>
            <p:cNvPr id="10" name="TextBox 10"/>
            <p:cNvSpPr txBox="1"/>
            <p:nvPr/>
          </p:nvSpPr>
          <p:spPr>
            <a:xfrm>
              <a:off x="0" y="-57150"/>
              <a:ext cx="4816593" cy="1271117"/>
            </a:xfrm>
            <a:prstGeom prst="rect">
              <a:avLst/>
            </a:prstGeom>
          </p:spPr>
          <p:txBody>
            <a:bodyPr lIns="50800" tIns="50800" rIns="50800" bIns="50800" rtlCol="0" anchor="ctr"/>
            <a:lstStyle/>
            <a:p>
              <a:pPr algn="ctr">
                <a:lnSpc>
                  <a:spcPts val="3105"/>
                </a:lnSpc>
              </a:pPr>
            </a:p>
            <a:p>
              <a:pPr algn="ctr">
                <a:lnSpc>
                  <a:spcPts val="3105"/>
                </a:lnSpc>
              </a:pPr>
            </a:p>
          </p:txBody>
        </p:sp>
      </p:grpSp>
      <p:grpSp>
        <p:nvGrpSpPr>
          <p:cNvPr id="11" name="Group 11"/>
          <p:cNvGrpSpPr/>
          <p:nvPr/>
        </p:nvGrpSpPr>
        <p:grpSpPr>
          <a:xfrm rot="0">
            <a:off x="244987" y="1821546"/>
            <a:ext cx="11088038" cy="7283481"/>
            <a:chOff x="0" y="0"/>
            <a:chExt cx="15202619" cy="9986256"/>
          </a:xfrm>
        </p:grpSpPr>
        <p:sp>
          <p:nvSpPr>
            <p:cNvPr id="12" name="Freeform 12"/>
            <p:cNvSpPr/>
            <p:nvPr/>
          </p:nvSpPr>
          <p:spPr>
            <a:xfrm>
              <a:off x="0" y="0"/>
              <a:ext cx="15202618" cy="9986318"/>
            </a:xfrm>
            <a:custGeom>
              <a:avLst/>
              <a:gdLst/>
              <a:ahLst/>
              <a:cxnLst/>
              <a:rect l="l" t="t" r="r" b="b"/>
              <a:pathLst>
                <a:path w="15202618" h="9986318">
                  <a:moveTo>
                    <a:pt x="0" y="0"/>
                  </a:moveTo>
                  <a:lnTo>
                    <a:pt x="15202618" y="0"/>
                  </a:lnTo>
                  <a:lnTo>
                    <a:pt x="15202618" y="9986318"/>
                  </a:lnTo>
                  <a:lnTo>
                    <a:pt x="0" y="9986318"/>
                  </a:lnTo>
                </a:path>
              </a:pathLst>
            </a:custGeom>
            <a:blipFill>
              <a:blip r:embed="rId1"/>
              <a:stretch>
                <a:fillRect l="-432" r="-432"/>
              </a:stretch>
            </a:blipFill>
          </p:spPr>
        </p:sp>
      </p:grpSp>
      <p:sp>
        <p:nvSpPr>
          <p:cNvPr id="13" name="TextBox 13"/>
          <p:cNvSpPr txBox="1"/>
          <p:nvPr/>
        </p:nvSpPr>
        <p:spPr>
          <a:xfrm>
            <a:off x="1421452" y="595312"/>
            <a:ext cx="5576065"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研究成果与展示</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14" name="TextBox 14"/>
          <p:cNvSpPr txBox="1"/>
          <p:nvPr/>
        </p:nvSpPr>
        <p:spPr>
          <a:xfrm>
            <a:off x="13736744" y="6782043"/>
            <a:ext cx="3422542" cy="688086"/>
          </a:xfrm>
          <a:prstGeom prst="rect">
            <a:avLst/>
          </a:prstGeom>
        </p:spPr>
        <p:txBody>
          <a:bodyPr lIns="0" tIns="0" rIns="0" bIns="0" rtlCol="0" anchor="t">
            <a:spAutoFit/>
          </a:bodyPr>
          <a:lstStyle/>
          <a:p>
            <a:pPr marL="0" lvl="0" indent="0" algn="l">
              <a:lnSpc>
                <a:spcPts val="5770"/>
              </a:lnSpc>
              <a:spcBef>
                <a:spcPct val="0"/>
              </a:spcBef>
            </a:pPr>
            <a:r>
              <a:rPr lang="en-US" sz="37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动力耦合器</a:t>
            </a:r>
            <a:endParaRPr lang="en-US" sz="37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1595755" y="3149600"/>
            <a:ext cx="4796790" cy="5628005"/>
            <a:chOff x="0" y="0"/>
            <a:chExt cx="812800" cy="916122"/>
          </a:xfrm>
        </p:grpSpPr>
        <p:sp>
          <p:nvSpPr>
            <p:cNvPr id="9" name="Freeform 9"/>
            <p:cNvSpPr/>
            <p:nvPr/>
          </p:nvSpPr>
          <p:spPr>
            <a:xfrm>
              <a:off x="0" y="0"/>
              <a:ext cx="812800" cy="916122"/>
            </a:xfrm>
            <a:custGeom>
              <a:avLst/>
              <a:gdLst/>
              <a:ahLst/>
              <a:cxnLst/>
              <a:rect l="l" t="t" r="r" b="b"/>
              <a:pathLst>
                <a:path w="812800" h="916122">
                  <a:moveTo>
                    <a:pt x="652780" y="0"/>
                  </a:moveTo>
                  <a:lnTo>
                    <a:pt x="160020" y="0"/>
                  </a:lnTo>
                  <a:lnTo>
                    <a:pt x="0" y="160020"/>
                  </a:lnTo>
                  <a:lnTo>
                    <a:pt x="0" y="756102"/>
                  </a:lnTo>
                  <a:lnTo>
                    <a:pt x="160020" y="916122"/>
                  </a:lnTo>
                  <a:lnTo>
                    <a:pt x="652780" y="916122"/>
                  </a:lnTo>
                  <a:lnTo>
                    <a:pt x="812800" y="756102"/>
                  </a:lnTo>
                  <a:lnTo>
                    <a:pt x="812800" y="160020"/>
                  </a:lnTo>
                  <a:lnTo>
                    <a:pt x="652780" y="0"/>
                  </a:lnTo>
                  <a:close/>
                </a:path>
              </a:pathLst>
            </a:custGeom>
            <a:solidFill>
              <a:srgbClr val="1F367F">
                <a:alpha val="10980"/>
              </a:srgbClr>
            </a:solidFill>
            <a:ln cap="sq">
              <a:noFill/>
              <a:prstDash val="solid"/>
              <a:miter/>
            </a:ln>
          </p:spPr>
        </p:sp>
        <p:sp>
          <p:nvSpPr>
            <p:cNvPr id="10" name="TextBox 10"/>
            <p:cNvSpPr txBox="1"/>
            <p:nvPr/>
          </p:nvSpPr>
          <p:spPr>
            <a:xfrm>
              <a:off x="63500" y="6350"/>
              <a:ext cx="685800" cy="846272"/>
            </a:xfrm>
            <a:prstGeom prst="rect">
              <a:avLst/>
            </a:prstGeom>
          </p:spPr>
          <p:txBody>
            <a:bodyPr lIns="50800" tIns="50800" rIns="50800" bIns="50800" rtlCol="0" anchor="ctr"/>
            <a:lstStyle/>
            <a:p>
              <a:pPr marL="0" lvl="0" indent="0" algn="ctr">
                <a:lnSpc>
                  <a:spcPts val="3105"/>
                </a:lnSpc>
                <a:spcBef>
                  <a:spcPct val="0"/>
                </a:spcBef>
              </a:pPr>
            </a:p>
          </p:txBody>
        </p:sp>
      </p:grpSp>
      <p:grpSp>
        <p:nvGrpSpPr>
          <p:cNvPr id="11" name="Group 11"/>
          <p:cNvGrpSpPr/>
          <p:nvPr/>
        </p:nvGrpSpPr>
        <p:grpSpPr>
          <a:xfrm rot="0">
            <a:off x="3529868" y="2103515"/>
            <a:ext cx="928259" cy="928259"/>
            <a:chOff x="0" y="0"/>
            <a:chExt cx="812800" cy="812800"/>
          </a:xfrm>
        </p:grpSpPr>
        <p:sp>
          <p:nvSpPr>
            <p:cNvPr id="12" name="Freeform 1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F367F"/>
            </a:solidFill>
          </p:spPr>
        </p:sp>
        <p:sp>
          <p:nvSpPr>
            <p:cNvPr id="13" name="TextBox 13"/>
            <p:cNvSpPr txBox="1"/>
            <p:nvPr/>
          </p:nvSpPr>
          <p:spPr>
            <a:xfrm>
              <a:off x="0" y="0"/>
              <a:ext cx="812800" cy="812800"/>
            </a:xfrm>
            <a:prstGeom prst="rect">
              <a:avLst/>
            </a:prstGeom>
          </p:spPr>
          <p:txBody>
            <a:bodyPr lIns="53600" tIns="53600" rIns="53600" bIns="53600" rtlCol="0" anchor="ctr"/>
            <a:lstStyle/>
            <a:p>
              <a:pPr algn="ctr">
                <a:lnSpc>
                  <a:spcPts val="2400"/>
                </a:lnSpc>
              </a:pPr>
            </a:p>
          </p:txBody>
        </p:sp>
      </p:grpSp>
      <p:grpSp>
        <p:nvGrpSpPr>
          <p:cNvPr id="14" name="Group 14"/>
          <p:cNvGrpSpPr/>
          <p:nvPr/>
        </p:nvGrpSpPr>
        <p:grpSpPr>
          <a:xfrm rot="0">
            <a:off x="6746875" y="3147695"/>
            <a:ext cx="4796790" cy="5629910"/>
            <a:chOff x="0" y="0"/>
            <a:chExt cx="812800" cy="916122"/>
          </a:xfrm>
        </p:grpSpPr>
        <p:sp>
          <p:nvSpPr>
            <p:cNvPr id="15" name="Freeform 15"/>
            <p:cNvSpPr/>
            <p:nvPr/>
          </p:nvSpPr>
          <p:spPr>
            <a:xfrm>
              <a:off x="0" y="0"/>
              <a:ext cx="812800" cy="916122"/>
            </a:xfrm>
            <a:custGeom>
              <a:avLst/>
              <a:gdLst/>
              <a:ahLst/>
              <a:cxnLst/>
              <a:rect l="l" t="t" r="r" b="b"/>
              <a:pathLst>
                <a:path w="812800" h="916122">
                  <a:moveTo>
                    <a:pt x="652780" y="0"/>
                  </a:moveTo>
                  <a:lnTo>
                    <a:pt x="160020" y="0"/>
                  </a:lnTo>
                  <a:lnTo>
                    <a:pt x="0" y="160020"/>
                  </a:lnTo>
                  <a:lnTo>
                    <a:pt x="0" y="756102"/>
                  </a:lnTo>
                  <a:lnTo>
                    <a:pt x="160020" y="916122"/>
                  </a:lnTo>
                  <a:lnTo>
                    <a:pt x="652780" y="916122"/>
                  </a:lnTo>
                  <a:lnTo>
                    <a:pt x="812800" y="756102"/>
                  </a:lnTo>
                  <a:lnTo>
                    <a:pt x="812800" y="160020"/>
                  </a:lnTo>
                  <a:lnTo>
                    <a:pt x="652780" y="0"/>
                  </a:lnTo>
                  <a:close/>
                </a:path>
              </a:pathLst>
            </a:custGeom>
            <a:solidFill>
              <a:srgbClr val="4660AF">
                <a:alpha val="10980"/>
              </a:srgbClr>
            </a:solidFill>
            <a:ln cap="sq">
              <a:noFill/>
              <a:prstDash val="solid"/>
              <a:miter/>
            </a:ln>
          </p:spPr>
        </p:sp>
        <p:sp>
          <p:nvSpPr>
            <p:cNvPr id="16" name="TextBox 16"/>
            <p:cNvSpPr txBox="1"/>
            <p:nvPr/>
          </p:nvSpPr>
          <p:spPr>
            <a:xfrm>
              <a:off x="63500" y="6350"/>
              <a:ext cx="685800" cy="846272"/>
            </a:xfrm>
            <a:prstGeom prst="rect">
              <a:avLst/>
            </a:prstGeom>
          </p:spPr>
          <p:txBody>
            <a:bodyPr lIns="50800" tIns="50800" rIns="50800" bIns="50800" rtlCol="0" anchor="ctr"/>
            <a:lstStyle/>
            <a:p>
              <a:pPr marL="0" lvl="0" indent="0" algn="ctr">
                <a:lnSpc>
                  <a:spcPts val="3105"/>
                </a:lnSpc>
                <a:spcBef>
                  <a:spcPct val="0"/>
                </a:spcBef>
              </a:pPr>
            </a:p>
          </p:txBody>
        </p:sp>
      </p:grpSp>
      <p:grpSp>
        <p:nvGrpSpPr>
          <p:cNvPr id="17" name="Group 17"/>
          <p:cNvGrpSpPr/>
          <p:nvPr/>
        </p:nvGrpSpPr>
        <p:grpSpPr>
          <a:xfrm rot="0">
            <a:off x="8762883" y="2103515"/>
            <a:ext cx="928259" cy="928259"/>
            <a:chOff x="0" y="0"/>
            <a:chExt cx="812800" cy="812800"/>
          </a:xfrm>
        </p:grpSpPr>
        <p:sp>
          <p:nvSpPr>
            <p:cNvPr id="18" name="Freeform 1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4660AF"/>
            </a:solidFill>
          </p:spPr>
        </p:sp>
        <p:sp>
          <p:nvSpPr>
            <p:cNvPr id="19" name="TextBox 19"/>
            <p:cNvSpPr txBox="1"/>
            <p:nvPr/>
          </p:nvSpPr>
          <p:spPr>
            <a:xfrm>
              <a:off x="0" y="0"/>
              <a:ext cx="812800" cy="812800"/>
            </a:xfrm>
            <a:prstGeom prst="rect">
              <a:avLst/>
            </a:prstGeom>
          </p:spPr>
          <p:txBody>
            <a:bodyPr lIns="53600" tIns="53600" rIns="53600" bIns="53600" rtlCol="0" anchor="ctr"/>
            <a:lstStyle/>
            <a:p>
              <a:pPr algn="ctr">
                <a:lnSpc>
                  <a:spcPts val="2400"/>
                </a:lnSpc>
              </a:pPr>
            </a:p>
          </p:txBody>
        </p:sp>
      </p:grpSp>
      <p:sp>
        <p:nvSpPr>
          <p:cNvPr id="26" name="Freeform 26"/>
          <p:cNvSpPr/>
          <p:nvPr/>
        </p:nvSpPr>
        <p:spPr>
          <a:xfrm>
            <a:off x="1447800" y="4813300"/>
            <a:ext cx="5115560" cy="2670175"/>
          </a:xfrm>
          <a:custGeom>
            <a:avLst/>
            <a:gdLst/>
            <a:ahLst/>
            <a:cxnLst/>
            <a:rect l="l" t="t" r="r" b="b"/>
            <a:pathLst>
              <a:path w="5831821" h="2263829">
                <a:moveTo>
                  <a:pt x="0" y="0"/>
                </a:moveTo>
                <a:lnTo>
                  <a:pt x="5831821" y="0"/>
                </a:lnTo>
                <a:lnTo>
                  <a:pt x="5831821" y="2263829"/>
                </a:lnTo>
                <a:lnTo>
                  <a:pt x="0" y="2263829"/>
                </a:lnTo>
                <a:lnTo>
                  <a:pt x="0" y="0"/>
                </a:lnTo>
                <a:close/>
              </a:path>
            </a:pathLst>
          </a:custGeom>
          <a:blipFill>
            <a:blip r:embed="rId1"/>
            <a:stretch>
              <a:fillRect/>
            </a:stretch>
          </a:blipFill>
        </p:spPr>
      </p:sp>
      <p:sp>
        <p:nvSpPr>
          <p:cNvPr id="27" name="TextBox 27"/>
          <p:cNvSpPr txBox="1"/>
          <p:nvPr/>
        </p:nvSpPr>
        <p:spPr>
          <a:xfrm>
            <a:off x="1421452" y="595312"/>
            <a:ext cx="6529733"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研究成果与展示</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grpSp>
        <p:nvGrpSpPr>
          <p:cNvPr id="20" name="Group 20"/>
          <p:cNvGrpSpPr/>
          <p:nvPr/>
        </p:nvGrpSpPr>
        <p:grpSpPr>
          <a:xfrm rot="0">
            <a:off x="11880850" y="3149600"/>
            <a:ext cx="4956175" cy="5746115"/>
            <a:chOff x="0" y="0"/>
            <a:chExt cx="812800" cy="916122"/>
          </a:xfrm>
        </p:grpSpPr>
        <p:sp>
          <p:nvSpPr>
            <p:cNvPr id="21" name="Freeform 21"/>
            <p:cNvSpPr/>
            <p:nvPr/>
          </p:nvSpPr>
          <p:spPr>
            <a:xfrm>
              <a:off x="0" y="0"/>
              <a:ext cx="812800" cy="916122"/>
            </a:xfrm>
            <a:custGeom>
              <a:avLst/>
              <a:gdLst/>
              <a:ahLst/>
              <a:cxnLst/>
              <a:rect l="l" t="t" r="r" b="b"/>
              <a:pathLst>
                <a:path w="812800" h="916122">
                  <a:moveTo>
                    <a:pt x="652780" y="0"/>
                  </a:moveTo>
                  <a:lnTo>
                    <a:pt x="160020" y="0"/>
                  </a:lnTo>
                  <a:lnTo>
                    <a:pt x="0" y="160020"/>
                  </a:lnTo>
                  <a:lnTo>
                    <a:pt x="0" y="756102"/>
                  </a:lnTo>
                  <a:lnTo>
                    <a:pt x="160020" y="916122"/>
                  </a:lnTo>
                  <a:lnTo>
                    <a:pt x="652780" y="916122"/>
                  </a:lnTo>
                  <a:lnTo>
                    <a:pt x="812800" y="756102"/>
                  </a:lnTo>
                  <a:lnTo>
                    <a:pt x="812800" y="160020"/>
                  </a:lnTo>
                  <a:lnTo>
                    <a:pt x="652780" y="0"/>
                  </a:lnTo>
                  <a:close/>
                </a:path>
              </a:pathLst>
            </a:custGeom>
            <a:solidFill>
              <a:srgbClr val="1F367F">
                <a:alpha val="10980"/>
              </a:srgbClr>
            </a:solidFill>
            <a:ln cap="sq">
              <a:noFill/>
              <a:prstDash val="solid"/>
              <a:miter/>
            </a:ln>
          </p:spPr>
        </p:sp>
        <p:sp>
          <p:nvSpPr>
            <p:cNvPr id="22" name="TextBox 22"/>
            <p:cNvSpPr txBox="1"/>
            <p:nvPr/>
          </p:nvSpPr>
          <p:spPr>
            <a:xfrm>
              <a:off x="63500" y="6350"/>
              <a:ext cx="685800" cy="846272"/>
            </a:xfrm>
            <a:prstGeom prst="rect">
              <a:avLst/>
            </a:prstGeom>
          </p:spPr>
          <p:txBody>
            <a:bodyPr lIns="50800" tIns="50800" rIns="50800" bIns="50800" rtlCol="0" anchor="ctr"/>
            <a:lstStyle/>
            <a:p>
              <a:pPr marL="0" lvl="0" indent="0" algn="ctr">
                <a:lnSpc>
                  <a:spcPts val="3105"/>
                </a:lnSpc>
                <a:spcBef>
                  <a:spcPct val="0"/>
                </a:spcBef>
              </a:pPr>
            </a:p>
          </p:txBody>
        </p:sp>
      </p:grpSp>
      <p:grpSp>
        <p:nvGrpSpPr>
          <p:cNvPr id="23" name="Group 23"/>
          <p:cNvGrpSpPr/>
          <p:nvPr/>
        </p:nvGrpSpPr>
        <p:grpSpPr>
          <a:xfrm rot="0">
            <a:off x="13868608" y="2083830"/>
            <a:ext cx="928259" cy="928259"/>
            <a:chOff x="0" y="0"/>
            <a:chExt cx="812800" cy="812800"/>
          </a:xfrm>
        </p:grpSpPr>
        <p:sp>
          <p:nvSpPr>
            <p:cNvPr id="24" name="Freeform 2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F367F"/>
            </a:solidFill>
          </p:spPr>
        </p:sp>
        <p:sp>
          <p:nvSpPr>
            <p:cNvPr id="25" name="TextBox 25"/>
            <p:cNvSpPr txBox="1"/>
            <p:nvPr/>
          </p:nvSpPr>
          <p:spPr>
            <a:xfrm>
              <a:off x="0" y="0"/>
              <a:ext cx="812800" cy="812800"/>
            </a:xfrm>
            <a:prstGeom prst="rect">
              <a:avLst/>
            </a:prstGeom>
          </p:spPr>
          <p:txBody>
            <a:bodyPr lIns="53600" tIns="53600" rIns="53600" bIns="53600" rtlCol="0" anchor="ctr"/>
            <a:lstStyle/>
            <a:p>
              <a:pPr algn="ctr">
                <a:lnSpc>
                  <a:spcPts val="2400"/>
                </a:lnSpc>
              </a:pPr>
            </a:p>
          </p:txBody>
        </p:sp>
      </p:grpSp>
      <p:sp>
        <p:nvSpPr>
          <p:cNvPr id="28" name="TextBox 28"/>
          <p:cNvSpPr txBox="1"/>
          <p:nvPr/>
        </p:nvSpPr>
        <p:spPr>
          <a:xfrm>
            <a:off x="3422193" y="2191407"/>
            <a:ext cx="1143608" cy="685800"/>
          </a:xfrm>
          <a:prstGeom prst="rect">
            <a:avLst/>
          </a:prstGeom>
        </p:spPr>
        <p:txBody>
          <a:bodyPr lIns="0" tIns="0" rIns="0" bIns="0" rtlCol="0" anchor="t">
            <a:spAutoFit/>
          </a:bodyPr>
          <a:lstStyle/>
          <a:p>
            <a:pPr marL="0" lvl="0" indent="0" algn="ctr">
              <a:lnSpc>
                <a:spcPts val="4775"/>
              </a:lnSpc>
              <a:spcBef>
                <a:spcPct val="0"/>
              </a:spcBef>
            </a:pPr>
            <a:r>
              <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01</a:t>
            </a:r>
            <a:endPar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29" name="TextBox 29"/>
          <p:cNvSpPr txBox="1"/>
          <p:nvPr/>
        </p:nvSpPr>
        <p:spPr>
          <a:xfrm>
            <a:off x="7162833" y="4253134"/>
            <a:ext cx="4135805" cy="3681730"/>
          </a:xfrm>
          <a:prstGeom prst="rect">
            <a:avLst/>
          </a:prstGeom>
        </p:spPr>
        <p:txBody>
          <a:bodyPr lIns="0" tIns="0" rIns="0" bIns="0" rtlCol="0" anchor="t">
            <a:spAutoFit/>
          </a:bodyPr>
          <a:lstStyle/>
          <a:p>
            <a:pPr algn="just">
              <a:lnSpc>
                <a:spcPts val="3190"/>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基体材料：20CrMnTi合金钢</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190"/>
              </a:lnSpc>
            </a:pPr>
            <a:endParaRPr sz="2400"/>
          </a:p>
          <a:p>
            <a:pPr algn="just">
              <a:lnSpc>
                <a:spcPts val="3190"/>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摩擦系数的控制：表面类金刚石碳（DLC）涂层技术实现摩擦系数≤0.1</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190"/>
              </a:lnSpc>
            </a:pPr>
            <a:endParaRPr sz="2400"/>
          </a:p>
          <a:p>
            <a:pPr algn="just">
              <a:lnSpc>
                <a:spcPts val="3190"/>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表面的热处理工艺：先渗碳淬火后低温回火</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3190"/>
              </a:lnSpc>
              <a:spcBef>
                <a:spcPct val="0"/>
              </a:spcBef>
            </a:pPr>
            <a:endParaRPr sz="2400"/>
          </a:p>
        </p:txBody>
      </p:sp>
      <p:sp>
        <p:nvSpPr>
          <p:cNvPr id="30" name="TextBox 30"/>
          <p:cNvSpPr txBox="1"/>
          <p:nvPr/>
        </p:nvSpPr>
        <p:spPr>
          <a:xfrm>
            <a:off x="8655209" y="2200932"/>
            <a:ext cx="1143608" cy="685800"/>
          </a:xfrm>
          <a:prstGeom prst="rect">
            <a:avLst/>
          </a:prstGeom>
        </p:spPr>
        <p:txBody>
          <a:bodyPr lIns="0" tIns="0" rIns="0" bIns="0" rtlCol="0" anchor="t">
            <a:spAutoFit/>
          </a:bodyPr>
          <a:lstStyle/>
          <a:p>
            <a:pPr marL="0" lvl="0" indent="0" algn="ctr">
              <a:lnSpc>
                <a:spcPts val="4775"/>
              </a:lnSpc>
              <a:spcBef>
                <a:spcPct val="0"/>
              </a:spcBef>
            </a:pPr>
            <a:r>
              <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02</a:t>
            </a:r>
            <a:endPar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33" name="TextBox 33"/>
          <p:cNvSpPr txBox="1"/>
          <p:nvPr/>
        </p:nvSpPr>
        <p:spPr>
          <a:xfrm>
            <a:off x="2666943" y="3238786"/>
            <a:ext cx="2889059" cy="1062608"/>
          </a:xfrm>
          <a:prstGeom prst="rect">
            <a:avLst/>
          </a:prstGeom>
        </p:spPr>
        <p:txBody>
          <a:bodyPr lIns="0" tIns="0" rIns="0" bIns="0" rtlCol="0" anchor="t">
            <a:spAutoFit/>
          </a:bodyPr>
          <a:lstStyle/>
          <a:p>
            <a:pPr algn="ctr">
              <a:lnSpc>
                <a:spcPts val="4370"/>
              </a:lnSpc>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行星齿轮组选型</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marL="0" lvl="0" indent="0" algn="ctr">
              <a:lnSpc>
                <a:spcPts val="4370"/>
              </a:lnSpc>
              <a:spcBef>
                <a:spcPct val="0"/>
              </a:spcBef>
            </a:pPr>
          </a:p>
        </p:txBody>
      </p:sp>
      <p:sp>
        <p:nvSpPr>
          <p:cNvPr id="34" name="TextBox 34"/>
          <p:cNvSpPr txBox="1"/>
          <p:nvPr/>
        </p:nvSpPr>
        <p:spPr>
          <a:xfrm>
            <a:off x="7391570" y="3314860"/>
            <a:ext cx="3442285" cy="510158"/>
          </a:xfrm>
          <a:prstGeom prst="rect">
            <a:avLst/>
          </a:prstGeom>
        </p:spPr>
        <p:txBody>
          <a:bodyPr lIns="0" tIns="0" rIns="0" bIns="0" rtlCol="0" anchor="t">
            <a:spAutoFit/>
          </a:bodyPr>
          <a:lstStyle/>
          <a:p>
            <a:pPr marL="0" lvl="0" indent="0" algn="ctr">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材料选择与表面处理</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31" name="TextBox 31"/>
          <p:cNvSpPr txBox="1"/>
          <p:nvPr/>
        </p:nvSpPr>
        <p:spPr>
          <a:xfrm>
            <a:off x="11963400" y="4076700"/>
            <a:ext cx="4791710" cy="5212080"/>
          </a:xfrm>
          <a:prstGeom prst="rect">
            <a:avLst/>
          </a:prstGeom>
        </p:spPr>
        <p:txBody>
          <a:bodyPr wrap="square" lIns="0" tIns="0" rIns="0" bIns="0" rtlCol="0" anchor="t">
            <a:spAutoFit/>
          </a:bodyPr>
          <a:lstStyle/>
          <a:p>
            <a:pPr algn="ctr">
              <a:lnSpc>
                <a:spcPts val="3695"/>
              </a:lnSpc>
            </a:pPr>
            <a:r>
              <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行星齿轮组</a:t>
            </a:r>
            <a:r>
              <a:rPr lang="zh-CN" alt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分度圆</a:t>
            </a:r>
            <a:r>
              <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设计计算</a:t>
            </a:r>
            <a:endPar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695"/>
              </a:lnSpc>
            </a:pPr>
            <a:r>
              <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总输出扭矩</a:t>
            </a:r>
            <a:r>
              <a:rPr lang="zh-CN" alt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1250Nm</a:t>
            </a:r>
            <a:endPar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695"/>
              </a:lnSpc>
            </a:pPr>
            <a:endPar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695"/>
              </a:lnSpc>
            </a:pPr>
            <a:r>
              <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齿轮强度校核</a:t>
            </a:r>
            <a:endPar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695"/>
              </a:lnSpc>
            </a:pPr>
            <a:r>
              <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太阳轮与行星轮接触应力</a:t>
            </a:r>
            <a:r>
              <a:rPr lang="zh-CN" alt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695"/>
              </a:lnSpc>
            </a:pPr>
            <a:r>
              <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391.7Mpa</a:t>
            </a:r>
            <a:r>
              <a:rPr lang="zh-CN" alt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1500MPa</a:t>
            </a:r>
            <a:endParaRPr lang="en-US" altLang="zh-CN"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695"/>
              </a:lnSpc>
            </a:pPr>
            <a:r>
              <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太阳轮弯曲应力</a:t>
            </a:r>
            <a:r>
              <a:rPr lang="zh-CN" alt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zh-CN" alt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695"/>
              </a:lnSpc>
            </a:pPr>
            <a:r>
              <a:rPr lang="en-US" altLang="zh-CN"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250MPa</a:t>
            </a:r>
            <a:r>
              <a:rPr lang="zh-CN" alt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en-US" altLang="zh-CN"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400MPa</a:t>
            </a:r>
            <a:endPar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695"/>
              </a:lnSpc>
            </a:pPr>
            <a:endPar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695"/>
              </a:lnSpc>
            </a:pPr>
            <a:r>
              <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输出轴</a:t>
            </a:r>
            <a:r>
              <a:rPr lang="zh-CN" alt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轴径：</a:t>
            </a:r>
            <a:r>
              <a:rPr lang="en-US" altLang="zh-CN"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65mm</a:t>
            </a:r>
            <a:endParaRPr lang="en-US" sz="22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ctr">
              <a:lnSpc>
                <a:spcPts val="3695"/>
              </a:lnSpc>
              <a:spcBef>
                <a:spcPct val="0"/>
              </a:spcBef>
            </a:pPr>
          </a:p>
        </p:txBody>
      </p:sp>
      <p:sp>
        <p:nvSpPr>
          <p:cNvPr id="32" name="TextBox 32"/>
          <p:cNvSpPr txBox="1"/>
          <p:nvPr/>
        </p:nvSpPr>
        <p:spPr>
          <a:xfrm>
            <a:off x="13760933" y="2171722"/>
            <a:ext cx="1143608" cy="685800"/>
          </a:xfrm>
          <a:prstGeom prst="rect">
            <a:avLst/>
          </a:prstGeom>
        </p:spPr>
        <p:txBody>
          <a:bodyPr lIns="0" tIns="0" rIns="0" bIns="0" rtlCol="0" anchor="t">
            <a:spAutoFit/>
          </a:bodyPr>
          <a:lstStyle/>
          <a:p>
            <a:pPr marL="0" lvl="0" indent="0" algn="ctr">
              <a:lnSpc>
                <a:spcPts val="4775"/>
              </a:lnSpc>
              <a:spcBef>
                <a:spcPct val="0"/>
              </a:spcBef>
            </a:pPr>
            <a:r>
              <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03</a:t>
            </a:r>
            <a:endPar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35" name="TextBox 35"/>
          <p:cNvSpPr txBox="1"/>
          <p:nvPr/>
        </p:nvSpPr>
        <p:spPr>
          <a:xfrm>
            <a:off x="12649320" y="3315621"/>
            <a:ext cx="3427333" cy="510158"/>
          </a:xfrm>
          <a:prstGeom prst="rect">
            <a:avLst/>
          </a:prstGeom>
        </p:spPr>
        <p:txBody>
          <a:bodyPr lIns="0" tIns="0" rIns="0" bIns="0" rtlCol="0" anchor="t">
            <a:spAutoFit/>
          </a:bodyPr>
          <a:lstStyle/>
          <a:p>
            <a:pPr marL="0" lvl="0" indent="0" algn="ctr">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动力耦合器设计计算</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0" y="4859165"/>
            <a:ext cx="18288000" cy="4609280"/>
            <a:chOff x="0" y="0"/>
            <a:chExt cx="4816593" cy="1213967"/>
          </a:xfrm>
        </p:grpSpPr>
        <p:sp>
          <p:nvSpPr>
            <p:cNvPr id="9" name="Freeform 9"/>
            <p:cNvSpPr/>
            <p:nvPr/>
          </p:nvSpPr>
          <p:spPr>
            <a:xfrm>
              <a:off x="0" y="0"/>
              <a:ext cx="4816592" cy="1213967"/>
            </a:xfrm>
            <a:custGeom>
              <a:avLst/>
              <a:gdLst/>
              <a:ahLst/>
              <a:cxnLst/>
              <a:rect l="l" t="t" r="r" b="b"/>
              <a:pathLst>
                <a:path w="4816592" h="1213967">
                  <a:moveTo>
                    <a:pt x="0" y="0"/>
                  </a:moveTo>
                  <a:lnTo>
                    <a:pt x="4816592" y="0"/>
                  </a:lnTo>
                  <a:lnTo>
                    <a:pt x="4816592" y="1213967"/>
                  </a:lnTo>
                  <a:lnTo>
                    <a:pt x="0" y="1213967"/>
                  </a:lnTo>
                  <a:close/>
                </a:path>
              </a:pathLst>
            </a:custGeom>
            <a:solidFill>
              <a:srgbClr val="1F367F"/>
            </a:solidFill>
          </p:spPr>
        </p:sp>
        <p:sp>
          <p:nvSpPr>
            <p:cNvPr id="10" name="TextBox 10"/>
            <p:cNvSpPr txBox="1"/>
            <p:nvPr/>
          </p:nvSpPr>
          <p:spPr>
            <a:xfrm>
              <a:off x="0" y="-57150"/>
              <a:ext cx="4816593" cy="1271117"/>
            </a:xfrm>
            <a:prstGeom prst="rect">
              <a:avLst/>
            </a:prstGeom>
          </p:spPr>
          <p:txBody>
            <a:bodyPr lIns="50800" tIns="50800" rIns="50800" bIns="50800" rtlCol="0" anchor="ctr"/>
            <a:lstStyle/>
            <a:p>
              <a:pPr algn="ctr">
                <a:lnSpc>
                  <a:spcPts val="3105"/>
                </a:lnSpc>
              </a:pPr>
            </a:p>
            <a:p>
              <a:pPr algn="ctr">
                <a:lnSpc>
                  <a:spcPts val="3105"/>
                </a:lnSpc>
              </a:pPr>
            </a:p>
          </p:txBody>
        </p:sp>
      </p:grpSp>
      <p:grpSp>
        <p:nvGrpSpPr>
          <p:cNvPr id="11" name="Group 11"/>
          <p:cNvGrpSpPr/>
          <p:nvPr/>
        </p:nvGrpSpPr>
        <p:grpSpPr>
          <a:xfrm rot="0">
            <a:off x="244987" y="1821546"/>
            <a:ext cx="13106295" cy="7200655"/>
            <a:chOff x="0" y="0"/>
            <a:chExt cx="18176514" cy="9986256"/>
          </a:xfrm>
        </p:grpSpPr>
        <p:sp>
          <p:nvSpPr>
            <p:cNvPr id="12" name="Freeform 12"/>
            <p:cNvSpPr/>
            <p:nvPr/>
          </p:nvSpPr>
          <p:spPr>
            <a:xfrm>
              <a:off x="0" y="0"/>
              <a:ext cx="18176514" cy="9986318"/>
            </a:xfrm>
            <a:custGeom>
              <a:avLst/>
              <a:gdLst/>
              <a:ahLst/>
              <a:cxnLst/>
              <a:rect l="l" t="t" r="r" b="b"/>
              <a:pathLst>
                <a:path w="18176514" h="9986318">
                  <a:moveTo>
                    <a:pt x="0" y="0"/>
                  </a:moveTo>
                  <a:lnTo>
                    <a:pt x="18176514" y="0"/>
                  </a:lnTo>
                  <a:lnTo>
                    <a:pt x="18176514" y="9986318"/>
                  </a:lnTo>
                  <a:lnTo>
                    <a:pt x="0" y="9986318"/>
                  </a:lnTo>
                </a:path>
              </a:pathLst>
            </a:custGeom>
            <a:blipFill>
              <a:blip r:embed="rId1"/>
              <a:stretch>
                <a:fillRect l="-2449" r="-2449"/>
              </a:stretch>
            </a:blipFill>
          </p:spPr>
        </p:sp>
      </p:grpSp>
      <p:sp>
        <p:nvSpPr>
          <p:cNvPr id="13" name="TextBox 13"/>
          <p:cNvSpPr txBox="1"/>
          <p:nvPr/>
        </p:nvSpPr>
        <p:spPr>
          <a:xfrm>
            <a:off x="1421452" y="595312"/>
            <a:ext cx="5576065"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研究成果与展示</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14" name="TextBox 14"/>
          <p:cNvSpPr txBox="1"/>
          <p:nvPr/>
        </p:nvSpPr>
        <p:spPr>
          <a:xfrm>
            <a:off x="14188597" y="6610020"/>
            <a:ext cx="3422542" cy="1411986"/>
          </a:xfrm>
          <a:prstGeom prst="rect">
            <a:avLst/>
          </a:prstGeom>
        </p:spPr>
        <p:txBody>
          <a:bodyPr lIns="0" tIns="0" rIns="0" bIns="0" rtlCol="0" anchor="t">
            <a:spAutoFit/>
          </a:bodyPr>
          <a:lstStyle/>
          <a:p>
            <a:pPr marL="0" lvl="0" indent="0" algn="l">
              <a:lnSpc>
                <a:spcPts val="5770"/>
              </a:lnSpc>
              <a:spcBef>
                <a:spcPct val="0"/>
              </a:spcBef>
            </a:pPr>
            <a:r>
              <a:rPr lang="en-US" sz="37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四轮驱动分动器</a:t>
            </a:r>
            <a:endParaRPr lang="en-US" sz="37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marL="0" lvl="0" indent="0" algn="l">
              <a:lnSpc>
                <a:spcPts val="5770"/>
              </a:lnSpc>
              <a:spcBef>
                <a:spcPct val="0"/>
              </a:spcBef>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2085802" y="1684217"/>
            <a:ext cx="5545412" cy="4454756"/>
            <a:chOff x="0" y="0"/>
            <a:chExt cx="19827533" cy="15927908"/>
          </a:xfrm>
        </p:grpSpPr>
        <p:sp>
          <p:nvSpPr>
            <p:cNvPr id="9" name="Freeform 9"/>
            <p:cNvSpPr/>
            <p:nvPr/>
          </p:nvSpPr>
          <p:spPr>
            <a:xfrm>
              <a:off x="0" y="0"/>
              <a:ext cx="19827548" cy="15927904"/>
            </a:xfrm>
            <a:custGeom>
              <a:avLst/>
              <a:gdLst/>
              <a:ahLst/>
              <a:cxnLst/>
              <a:rect l="l" t="t" r="r" b="b"/>
              <a:pathLst>
                <a:path w="19827548" h="15927904">
                  <a:moveTo>
                    <a:pt x="0" y="0"/>
                  </a:moveTo>
                  <a:lnTo>
                    <a:pt x="19827548" y="0"/>
                  </a:lnTo>
                  <a:lnTo>
                    <a:pt x="19827548" y="15927904"/>
                  </a:lnTo>
                  <a:lnTo>
                    <a:pt x="0" y="15927904"/>
                  </a:lnTo>
                </a:path>
              </a:pathLst>
            </a:custGeom>
            <a:blipFill>
              <a:blip r:embed="rId1"/>
              <a:stretch>
                <a:fillRect l="-1910" r="-1910"/>
              </a:stretch>
            </a:blipFill>
          </p:spPr>
        </p:sp>
      </p:grpSp>
      <p:grpSp>
        <p:nvGrpSpPr>
          <p:cNvPr id="10" name="Group 10"/>
          <p:cNvGrpSpPr/>
          <p:nvPr/>
        </p:nvGrpSpPr>
        <p:grpSpPr>
          <a:xfrm rot="0">
            <a:off x="9799262" y="1684217"/>
            <a:ext cx="6608961" cy="4454756"/>
            <a:chOff x="0" y="0"/>
            <a:chExt cx="23630235" cy="15927908"/>
          </a:xfrm>
        </p:grpSpPr>
        <p:sp>
          <p:nvSpPr>
            <p:cNvPr id="11" name="Freeform 11"/>
            <p:cNvSpPr/>
            <p:nvPr/>
          </p:nvSpPr>
          <p:spPr>
            <a:xfrm>
              <a:off x="0" y="0"/>
              <a:ext cx="23630249" cy="15927904"/>
            </a:xfrm>
            <a:custGeom>
              <a:avLst/>
              <a:gdLst/>
              <a:ahLst/>
              <a:cxnLst/>
              <a:rect l="l" t="t" r="r" b="b"/>
              <a:pathLst>
                <a:path w="23630249" h="15927904">
                  <a:moveTo>
                    <a:pt x="0" y="0"/>
                  </a:moveTo>
                  <a:lnTo>
                    <a:pt x="23630249" y="0"/>
                  </a:lnTo>
                  <a:lnTo>
                    <a:pt x="23630249" y="15927904"/>
                  </a:lnTo>
                  <a:lnTo>
                    <a:pt x="0" y="15927904"/>
                  </a:lnTo>
                </a:path>
              </a:pathLst>
            </a:custGeom>
            <a:blipFill>
              <a:blip r:embed="rId2"/>
              <a:stretch>
                <a:fillRect l="-1453" r="-1453"/>
              </a:stretch>
            </a:blipFill>
          </p:spPr>
        </p:sp>
      </p:grpSp>
      <p:grpSp>
        <p:nvGrpSpPr>
          <p:cNvPr id="12" name="Group 12"/>
          <p:cNvGrpSpPr/>
          <p:nvPr/>
        </p:nvGrpSpPr>
        <p:grpSpPr>
          <a:xfrm rot="0">
            <a:off x="3269526" y="6428836"/>
            <a:ext cx="2863971" cy="613660"/>
            <a:chOff x="0" y="0"/>
            <a:chExt cx="754297" cy="161622"/>
          </a:xfrm>
        </p:grpSpPr>
        <p:sp>
          <p:nvSpPr>
            <p:cNvPr id="13" name="Freeform 13"/>
            <p:cNvSpPr/>
            <p:nvPr/>
          </p:nvSpPr>
          <p:spPr>
            <a:xfrm>
              <a:off x="0" y="0"/>
              <a:ext cx="754297" cy="161622"/>
            </a:xfrm>
            <a:custGeom>
              <a:avLst/>
              <a:gdLst/>
              <a:ahLst/>
              <a:cxnLst/>
              <a:rect l="l" t="t" r="r" b="b"/>
              <a:pathLst>
                <a:path w="754297" h="161622">
                  <a:moveTo>
                    <a:pt x="0" y="0"/>
                  </a:moveTo>
                  <a:lnTo>
                    <a:pt x="754297" y="0"/>
                  </a:lnTo>
                  <a:lnTo>
                    <a:pt x="754297" y="161622"/>
                  </a:lnTo>
                  <a:lnTo>
                    <a:pt x="0" y="161622"/>
                  </a:lnTo>
                  <a:close/>
                </a:path>
              </a:pathLst>
            </a:custGeom>
            <a:solidFill>
              <a:srgbClr val="1F367F"/>
            </a:solidFill>
            <a:ln cap="sq">
              <a:noFill/>
              <a:prstDash val="solid"/>
              <a:miter/>
            </a:ln>
          </p:spPr>
        </p:sp>
        <p:sp>
          <p:nvSpPr>
            <p:cNvPr id="14" name="TextBox 14"/>
            <p:cNvSpPr txBox="1"/>
            <p:nvPr/>
          </p:nvSpPr>
          <p:spPr>
            <a:xfrm>
              <a:off x="0" y="-38100"/>
              <a:ext cx="754297" cy="199722"/>
            </a:xfrm>
            <a:prstGeom prst="rect">
              <a:avLst/>
            </a:prstGeom>
          </p:spPr>
          <p:txBody>
            <a:bodyPr lIns="50800" tIns="50800" rIns="50800" bIns="50800" rtlCol="0" anchor="ctr"/>
            <a:lstStyle/>
            <a:p>
              <a:pPr algn="ctr">
                <a:lnSpc>
                  <a:spcPts val="2660"/>
                </a:lnSpc>
                <a:spcBef>
                  <a:spcPct val="0"/>
                </a:spcBef>
              </a:pPr>
            </a:p>
          </p:txBody>
        </p:sp>
      </p:grpSp>
      <p:grpSp>
        <p:nvGrpSpPr>
          <p:cNvPr id="15" name="Group 15"/>
          <p:cNvGrpSpPr/>
          <p:nvPr/>
        </p:nvGrpSpPr>
        <p:grpSpPr>
          <a:xfrm rot="0">
            <a:off x="11255652" y="6460399"/>
            <a:ext cx="2863971" cy="613660"/>
            <a:chOff x="0" y="0"/>
            <a:chExt cx="754297" cy="161622"/>
          </a:xfrm>
        </p:grpSpPr>
        <p:sp>
          <p:nvSpPr>
            <p:cNvPr id="16" name="Freeform 16"/>
            <p:cNvSpPr/>
            <p:nvPr/>
          </p:nvSpPr>
          <p:spPr>
            <a:xfrm>
              <a:off x="0" y="0"/>
              <a:ext cx="754297" cy="161622"/>
            </a:xfrm>
            <a:custGeom>
              <a:avLst/>
              <a:gdLst/>
              <a:ahLst/>
              <a:cxnLst/>
              <a:rect l="l" t="t" r="r" b="b"/>
              <a:pathLst>
                <a:path w="754297" h="161622">
                  <a:moveTo>
                    <a:pt x="0" y="0"/>
                  </a:moveTo>
                  <a:lnTo>
                    <a:pt x="754297" y="0"/>
                  </a:lnTo>
                  <a:lnTo>
                    <a:pt x="754297" y="161622"/>
                  </a:lnTo>
                  <a:lnTo>
                    <a:pt x="0" y="161622"/>
                  </a:lnTo>
                  <a:close/>
                </a:path>
              </a:pathLst>
            </a:custGeom>
            <a:solidFill>
              <a:srgbClr val="4660AF"/>
            </a:solidFill>
            <a:ln cap="sq">
              <a:noFill/>
              <a:prstDash val="solid"/>
              <a:miter/>
            </a:ln>
          </p:spPr>
        </p:sp>
        <p:sp>
          <p:nvSpPr>
            <p:cNvPr id="17" name="TextBox 17"/>
            <p:cNvSpPr txBox="1"/>
            <p:nvPr/>
          </p:nvSpPr>
          <p:spPr>
            <a:xfrm>
              <a:off x="0" y="-38100"/>
              <a:ext cx="754297" cy="199722"/>
            </a:xfrm>
            <a:prstGeom prst="rect">
              <a:avLst/>
            </a:prstGeom>
          </p:spPr>
          <p:txBody>
            <a:bodyPr lIns="50800" tIns="50800" rIns="50800" bIns="50800" rtlCol="0" anchor="ctr"/>
            <a:lstStyle/>
            <a:p>
              <a:pPr algn="ctr">
                <a:lnSpc>
                  <a:spcPts val="2660"/>
                </a:lnSpc>
                <a:spcBef>
                  <a:spcPct val="0"/>
                </a:spcBef>
              </a:pPr>
            </a:p>
          </p:txBody>
        </p:sp>
      </p:grpSp>
      <p:sp>
        <p:nvSpPr>
          <p:cNvPr id="18" name="TextBox 18"/>
          <p:cNvSpPr txBox="1"/>
          <p:nvPr/>
        </p:nvSpPr>
        <p:spPr>
          <a:xfrm>
            <a:off x="1421452" y="595312"/>
            <a:ext cx="6529733"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研究成果与展示</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19" name="TextBox 19"/>
          <p:cNvSpPr txBox="1"/>
          <p:nvPr/>
        </p:nvSpPr>
        <p:spPr>
          <a:xfrm>
            <a:off x="2895600" y="7187565"/>
            <a:ext cx="4111625" cy="2562860"/>
          </a:xfrm>
          <a:prstGeom prst="rect">
            <a:avLst/>
          </a:prstGeom>
        </p:spPr>
        <p:txBody>
          <a:bodyPr wrap="square" lIns="0" tIns="0" rIns="0" bIns="0" rtlCol="0" anchor="t">
            <a:spAutoFit/>
          </a:bodyPr>
          <a:lstStyle/>
          <a:p>
            <a:pPr algn="just">
              <a:lnSpc>
                <a:spcPts val="2855"/>
              </a:lnSpc>
            </a:pPr>
            <a:r>
              <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凸轮结构换挡拨叉实现换挡，滑移花键实现齿轮与传动轴锁止</a:t>
            </a:r>
            <a:endPar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endParaRPr sz="2400"/>
          </a:p>
          <a:p>
            <a:pPr algn="just">
              <a:lnSpc>
                <a:spcPts val="2855"/>
              </a:lnSpc>
            </a:pPr>
            <a:r>
              <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高速档齿轮传动比：0.55</a:t>
            </a:r>
            <a:endPar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r>
              <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低速档齿轮传动比：1</a:t>
            </a:r>
            <a:endPar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2855"/>
              </a:lnSpc>
            </a:pPr>
            <a:endParaRPr sz="2400"/>
          </a:p>
        </p:txBody>
      </p:sp>
      <p:sp>
        <p:nvSpPr>
          <p:cNvPr id="20" name="TextBox 20"/>
          <p:cNvSpPr txBox="1"/>
          <p:nvPr/>
        </p:nvSpPr>
        <p:spPr>
          <a:xfrm>
            <a:off x="3235755" y="6420758"/>
            <a:ext cx="2902271"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高低速档切换设计</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21" name="TextBox 21"/>
          <p:cNvSpPr txBox="1"/>
          <p:nvPr/>
        </p:nvSpPr>
        <p:spPr>
          <a:xfrm>
            <a:off x="10515600" y="7185660"/>
            <a:ext cx="4577715" cy="3295015"/>
          </a:xfrm>
          <a:prstGeom prst="rect">
            <a:avLst/>
          </a:prstGeom>
        </p:spPr>
        <p:txBody>
          <a:bodyPr wrap="square" lIns="0" tIns="0" rIns="0" bIns="0" rtlCol="0" anchor="t">
            <a:spAutoFit/>
          </a:bodyPr>
          <a:lstStyle/>
          <a:p>
            <a:pPr algn="l">
              <a:lnSpc>
                <a:spcPts val="2855"/>
              </a:lnSpc>
            </a:pPr>
            <a:r>
              <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通过前后桥输出扭矩分配得到：</a:t>
            </a:r>
            <a:endPar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l">
              <a:lnSpc>
                <a:spcPts val="2855"/>
              </a:lnSpc>
            </a:pPr>
            <a:r>
              <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前桥齿轮传动比：1.32</a:t>
            </a:r>
            <a:endPar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l">
              <a:lnSpc>
                <a:spcPts val="2855"/>
              </a:lnSpc>
            </a:pPr>
            <a:r>
              <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后桥齿轮传动比：1</a:t>
            </a:r>
            <a:endPar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l">
              <a:lnSpc>
                <a:spcPts val="2855"/>
              </a:lnSpc>
            </a:pPr>
            <a:endParaRPr sz="2400"/>
          </a:p>
          <a:p>
            <a:pPr algn="l">
              <a:lnSpc>
                <a:spcPts val="2855"/>
              </a:lnSpc>
            </a:pPr>
            <a:r>
              <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分动器输入轴直径：65mm</a:t>
            </a:r>
            <a:endPar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l">
              <a:lnSpc>
                <a:spcPts val="2855"/>
              </a:lnSpc>
            </a:pPr>
            <a:r>
              <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前桥输出轴直径：55mm</a:t>
            </a:r>
            <a:endPar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l">
              <a:lnSpc>
                <a:spcPts val="2855"/>
              </a:lnSpc>
            </a:pPr>
            <a:r>
              <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后桥输出轴直径：50mm</a:t>
            </a:r>
            <a:endParaRPr lang="en-US" sz="24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l">
              <a:lnSpc>
                <a:spcPts val="2855"/>
              </a:lnSpc>
            </a:pPr>
          </a:p>
          <a:p>
            <a:pPr algn="l">
              <a:lnSpc>
                <a:spcPts val="2855"/>
              </a:lnSpc>
            </a:pPr>
          </a:p>
        </p:txBody>
      </p:sp>
      <p:sp>
        <p:nvSpPr>
          <p:cNvPr id="22" name="TextBox 22"/>
          <p:cNvSpPr txBox="1"/>
          <p:nvPr/>
        </p:nvSpPr>
        <p:spPr>
          <a:xfrm>
            <a:off x="11229026" y="6452321"/>
            <a:ext cx="2917223"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前后桥输出轴设计</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0" y="4859165"/>
            <a:ext cx="18288000" cy="4609280"/>
            <a:chOff x="0" y="0"/>
            <a:chExt cx="4816593" cy="1213967"/>
          </a:xfrm>
        </p:grpSpPr>
        <p:sp>
          <p:nvSpPr>
            <p:cNvPr id="9" name="Freeform 9"/>
            <p:cNvSpPr/>
            <p:nvPr/>
          </p:nvSpPr>
          <p:spPr>
            <a:xfrm>
              <a:off x="0" y="0"/>
              <a:ext cx="4816592" cy="1213967"/>
            </a:xfrm>
            <a:custGeom>
              <a:avLst/>
              <a:gdLst/>
              <a:ahLst/>
              <a:cxnLst/>
              <a:rect l="l" t="t" r="r" b="b"/>
              <a:pathLst>
                <a:path w="4816592" h="1213967">
                  <a:moveTo>
                    <a:pt x="0" y="0"/>
                  </a:moveTo>
                  <a:lnTo>
                    <a:pt x="4816592" y="0"/>
                  </a:lnTo>
                  <a:lnTo>
                    <a:pt x="4816592" y="1213967"/>
                  </a:lnTo>
                  <a:lnTo>
                    <a:pt x="0" y="1213967"/>
                  </a:lnTo>
                  <a:close/>
                </a:path>
              </a:pathLst>
            </a:custGeom>
            <a:solidFill>
              <a:srgbClr val="1F367F"/>
            </a:solidFill>
          </p:spPr>
        </p:sp>
        <p:sp>
          <p:nvSpPr>
            <p:cNvPr id="10" name="TextBox 10"/>
            <p:cNvSpPr txBox="1"/>
            <p:nvPr/>
          </p:nvSpPr>
          <p:spPr>
            <a:xfrm>
              <a:off x="0" y="-57150"/>
              <a:ext cx="4816593" cy="1271117"/>
            </a:xfrm>
            <a:prstGeom prst="rect">
              <a:avLst/>
            </a:prstGeom>
          </p:spPr>
          <p:txBody>
            <a:bodyPr lIns="50800" tIns="50800" rIns="50800" bIns="50800" rtlCol="0" anchor="ctr"/>
            <a:lstStyle/>
            <a:p>
              <a:pPr algn="ctr">
                <a:lnSpc>
                  <a:spcPts val="3105"/>
                </a:lnSpc>
              </a:pPr>
            </a:p>
            <a:p>
              <a:pPr algn="ctr">
                <a:lnSpc>
                  <a:spcPts val="3105"/>
                </a:lnSpc>
              </a:pPr>
            </a:p>
          </p:txBody>
        </p:sp>
      </p:grpSp>
      <p:grpSp>
        <p:nvGrpSpPr>
          <p:cNvPr id="11" name="Group 11"/>
          <p:cNvGrpSpPr/>
          <p:nvPr/>
        </p:nvGrpSpPr>
        <p:grpSpPr>
          <a:xfrm rot="0">
            <a:off x="244987" y="1821546"/>
            <a:ext cx="13165641" cy="7003248"/>
            <a:chOff x="0" y="0"/>
            <a:chExt cx="18773497" cy="9986256"/>
          </a:xfrm>
        </p:grpSpPr>
        <p:sp>
          <p:nvSpPr>
            <p:cNvPr id="12" name="Freeform 12"/>
            <p:cNvSpPr/>
            <p:nvPr/>
          </p:nvSpPr>
          <p:spPr>
            <a:xfrm>
              <a:off x="0" y="0"/>
              <a:ext cx="18773497" cy="9986318"/>
            </a:xfrm>
            <a:custGeom>
              <a:avLst/>
              <a:gdLst/>
              <a:ahLst/>
              <a:cxnLst/>
              <a:rect l="l" t="t" r="r" b="b"/>
              <a:pathLst>
                <a:path w="18773497" h="9986318">
                  <a:moveTo>
                    <a:pt x="0" y="0"/>
                  </a:moveTo>
                  <a:lnTo>
                    <a:pt x="18773497" y="0"/>
                  </a:lnTo>
                  <a:lnTo>
                    <a:pt x="18773497" y="9986318"/>
                  </a:lnTo>
                  <a:lnTo>
                    <a:pt x="0" y="9986318"/>
                  </a:lnTo>
                </a:path>
              </a:pathLst>
            </a:custGeom>
            <a:blipFill>
              <a:blip r:embed="rId1"/>
              <a:stretch>
                <a:fillRect t="-757" b="-757"/>
              </a:stretch>
            </a:blipFill>
          </p:spPr>
        </p:sp>
      </p:grpSp>
      <p:sp>
        <p:nvSpPr>
          <p:cNvPr id="13" name="TextBox 13"/>
          <p:cNvSpPr txBox="1"/>
          <p:nvPr/>
        </p:nvSpPr>
        <p:spPr>
          <a:xfrm>
            <a:off x="1421452" y="595312"/>
            <a:ext cx="5576065"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研究成果与展示</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14" name="TextBox 14"/>
          <p:cNvSpPr txBox="1"/>
          <p:nvPr/>
        </p:nvSpPr>
        <p:spPr>
          <a:xfrm>
            <a:off x="14865458" y="6714684"/>
            <a:ext cx="3422542" cy="1411986"/>
          </a:xfrm>
          <a:prstGeom prst="rect">
            <a:avLst/>
          </a:prstGeom>
        </p:spPr>
        <p:txBody>
          <a:bodyPr lIns="0" tIns="0" rIns="0" bIns="0" rtlCol="0" anchor="t">
            <a:spAutoFit/>
          </a:bodyPr>
          <a:lstStyle/>
          <a:p>
            <a:pPr marL="0" lvl="0" indent="0" algn="l">
              <a:lnSpc>
                <a:spcPts val="5770"/>
              </a:lnSpc>
              <a:spcBef>
                <a:spcPct val="0"/>
              </a:spcBef>
            </a:pPr>
            <a:r>
              <a:rPr lang="en-US" sz="37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传动装置</a:t>
            </a:r>
            <a:endParaRPr lang="en-US" sz="37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a:p>
            <a:pPr marL="0" lvl="0" indent="0" algn="l">
              <a:lnSpc>
                <a:spcPts val="5770"/>
              </a:lnSpc>
              <a:spcBef>
                <a:spcPct val="0"/>
              </a:spcBef>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21452" y="595312"/>
            <a:ext cx="6529733"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研究成果与展示</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grpSp>
        <p:nvGrpSpPr>
          <p:cNvPr id="3" name="Group 3"/>
          <p:cNvGrpSpPr/>
          <p:nvPr/>
        </p:nvGrpSpPr>
        <p:grpSpPr>
          <a:xfrm rot="8100000">
            <a:off x="-927534" y="122003"/>
            <a:ext cx="1640150" cy="1640150"/>
            <a:chOff x="0" y="0"/>
            <a:chExt cx="775859" cy="775859"/>
          </a:xfrm>
        </p:grpSpPr>
        <p:sp>
          <p:nvSpPr>
            <p:cNvPr id="4" name="Freeform 4"/>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5" name="TextBox 5"/>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6" name="Group 6"/>
          <p:cNvGrpSpPr/>
          <p:nvPr/>
        </p:nvGrpSpPr>
        <p:grpSpPr>
          <a:xfrm rot="8100000">
            <a:off x="-290992" y="-656066"/>
            <a:ext cx="1323946" cy="1323946"/>
            <a:chOff x="0" y="0"/>
            <a:chExt cx="626281" cy="626281"/>
          </a:xfrm>
        </p:grpSpPr>
        <p:sp>
          <p:nvSpPr>
            <p:cNvPr id="7" name="Freeform 7"/>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8" name="TextBox 8"/>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9" name="Group 9"/>
          <p:cNvGrpSpPr/>
          <p:nvPr/>
        </p:nvGrpSpPr>
        <p:grpSpPr>
          <a:xfrm rot="0">
            <a:off x="1595758" y="3371273"/>
            <a:ext cx="4796479" cy="5406202"/>
            <a:chOff x="0" y="0"/>
            <a:chExt cx="812800" cy="916122"/>
          </a:xfrm>
        </p:grpSpPr>
        <p:sp>
          <p:nvSpPr>
            <p:cNvPr id="10" name="Freeform 10"/>
            <p:cNvSpPr/>
            <p:nvPr/>
          </p:nvSpPr>
          <p:spPr>
            <a:xfrm>
              <a:off x="0" y="0"/>
              <a:ext cx="812800" cy="916122"/>
            </a:xfrm>
            <a:custGeom>
              <a:avLst/>
              <a:gdLst/>
              <a:ahLst/>
              <a:cxnLst/>
              <a:rect l="l" t="t" r="r" b="b"/>
              <a:pathLst>
                <a:path w="812800" h="916122">
                  <a:moveTo>
                    <a:pt x="652780" y="0"/>
                  </a:moveTo>
                  <a:lnTo>
                    <a:pt x="160020" y="0"/>
                  </a:lnTo>
                  <a:lnTo>
                    <a:pt x="0" y="160020"/>
                  </a:lnTo>
                  <a:lnTo>
                    <a:pt x="0" y="756102"/>
                  </a:lnTo>
                  <a:lnTo>
                    <a:pt x="160020" y="916122"/>
                  </a:lnTo>
                  <a:lnTo>
                    <a:pt x="652780" y="916122"/>
                  </a:lnTo>
                  <a:lnTo>
                    <a:pt x="812800" y="756102"/>
                  </a:lnTo>
                  <a:lnTo>
                    <a:pt x="812800" y="160020"/>
                  </a:lnTo>
                  <a:lnTo>
                    <a:pt x="652780" y="0"/>
                  </a:lnTo>
                  <a:close/>
                </a:path>
              </a:pathLst>
            </a:custGeom>
            <a:solidFill>
              <a:srgbClr val="1F367F">
                <a:alpha val="10980"/>
              </a:srgbClr>
            </a:solidFill>
            <a:ln cap="sq">
              <a:noFill/>
              <a:prstDash val="solid"/>
              <a:miter/>
            </a:ln>
          </p:spPr>
        </p:sp>
        <p:sp>
          <p:nvSpPr>
            <p:cNvPr id="11" name="TextBox 11"/>
            <p:cNvSpPr txBox="1"/>
            <p:nvPr/>
          </p:nvSpPr>
          <p:spPr>
            <a:xfrm>
              <a:off x="63500" y="6350"/>
              <a:ext cx="685800" cy="846272"/>
            </a:xfrm>
            <a:prstGeom prst="rect">
              <a:avLst/>
            </a:prstGeom>
          </p:spPr>
          <p:txBody>
            <a:bodyPr lIns="50800" tIns="50800" rIns="50800" bIns="50800" rtlCol="0" anchor="ctr"/>
            <a:lstStyle/>
            <a:p>
              <a:pPr marL="0" lvl="0" indent="0" algn="ctr">
                <a:lnSpc>
                  <a:spcPts val="3105"/>
                </a:lnSpc>
                <a:spcBef>
                  <a:spcPct val="0"/>
                </a:spcBef>
              </a:pPr>
            </a:p>
          </p:txBody>
        </p:sp>
      </p:grpSp>
      <p:sp>
        <p:nvSpPr>
          <p:cNvPr id="12" name="TextBox 12"/>
          <p:cNvSpPr txBox="1"/>
          <p:nvPr/>
        </p:nvSpPr>
        <p:spPr>
          <a:xfrm>
            <a:off x="2191963" y="5276483"/>
            <a:ext cx="3545245" cy="2153920"/>
          </a:xfrm>
          <a:prstGeom prst="rect">
            <a:avLst/>
          </a:prstGeom>
        </p:spPr>
        <p:txBody>
          <a:bodyPr lIns="0" tIns="0" rIns="0" bIns="0" rtlCol="0" anchor="t">
            <a:spAutoFit/>
          </a:bodyPr>
          <a:lstStyle/>
          <a:p>
            <a:pPr algn="ctr">
              <a:lnSpc>
                <a:spcPts val="3360"/>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起动转矩：1125Nm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360"/>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附着转矩：920Nm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3360"/>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日常行驶平均转矩：763Nm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ctr">
              <a:lnSpc>
                <a:spcPts val="3360"/>
              </a:lnSpc>
              <a:spcBef>
                <a:spcPct val="0"/>
              </a:spcBef>
            </a:pPr>
            <a:endParaRPr sz="2400"/>
          </a:p>
          <a:p>
            <a:pPr marL="0" lvl="0" indent="0" algn="ctr">
              <a:lnSpc>
                <a:spcPts val="3360"/>
              </a:lnSpc>
              <a:spcBef>
                <a:spcPct val="0"/>
              </a:spcBef>
            </a:pPr>
            <a:endParaRPr sz="2400"/>
          </a:p>
        </p:txBody>
      </p:sp>
      <p:grpSp>
        <p:nvGrpSpPr>
          <p:cNvPr id="13" name="Group 13"/>
          <p:cNvGrpSpPr/>
          <p:nvPr/>
        </p:nvGrpSpPr>
        <p:grpSpPr>
          <a:xfrm rot="0">
            <a:off x="3529868" y="2934730"/>
            <a:ext cx="928259" cy="928259"/>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F367F"/>
            </a:solidFill>
          </p:spPr>
        </p:sp>
        <p:sp>
          <p:nvSpPr>
            <p:cNvPr id="15" name="TextBox 15"/>
            <p:cNvSpPr txBox="1"/>
            <p:nvPr/>
          </p:nvSpPr>
          <p:spPr>
            <a:xfrm>
              <a:off x="0" y="0"/>
              <a:ext cx="812800" cy="812800"/>
            </a:xfrm>
            <a:prstGeom prst="rect">
              <a:avLst/>
            </a:prstGeom>
          </p:spPr>
          <p:txBody>
            <a:bodyPr lIns="53600" tIns="53600" rIns="53600" bIns="53600" rtlCol="0" anchor="ctr"/>
            <a:lstStyle/>
            <a:p>
              <a:pPr algn="ctr">
                <a:lnSpc>
                  <a:spcPts val="2400"/>
                </a:lnSpc>
              </a:pPr>
            </a:p>
          </p:txBody>
        </p:sp>
      </p:grpSp>
      <p:sp>
        <p:nvSpPr>
          <p:cNvPr id="16" name="TextBox 16"/>
          <p:cNvSpPr txBox="1"/>
          <p:nvPr/>
        </p:nvSpPr>
        <p:spPr>
          <a:xfrm>
            <a:off x="3422193" y="3022622"/>
            <a:ext cx="1143608" cy="685800"/>
          </a:xfrm>
          <a:prstGeom prst="rect">
            <a:avLst/>
          </a:prstGeom>
        </p:spPr>
        <p:txBody>
          <a:bodyPr lIns="0" tIns="0" rIns="0" bIns="0" rtlCol="0" anchor="t">
            <a:spAutoFit/>
          </a:bodyPr>
          <a:lstStyle/>
          <a:p>
            <a:pPr marL="0" lvl="0" indent="0" algn="ctr">
              <a:lnSpc>
                <a:spcPts val="4775"/>
              </a:lnSpc>
              <a:spcBef>
                <a:spcPct val="0"/>
              </a:spcBef>
            </a:pPr>
            <a:r>
              <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01</a:t>
            </a:r>
            <a:endPar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grpSp>
        <p:nvGrpSpPr>
          <p:cNvPr id="17" name="Group 17"/>
          <p:cNvGrpSpPr/>
          <p:nvPr/>
        </p:nvGrpSpPr>
        <p:grpSpPr>
          <a:xfrm rot="0">
            <a:off x="6746858" y="3371273"/>
            <a:ext cx="4796479" cy="5406202"/>
            <a:chOff x="0" y="0"/>
            <a:chExt cx="812800" cy="916122"/>
          </a:xfrm>
        </p:grpSpPr>
        <p:sp>
          <p:nvSpPr>
            <p:cNvPr id="18" name="Freeform 18"/>
            <p:cNvSpPr/>
            <p:nvPr/>
          </p:nvSpPr>
          <p:spPr>
            <a:xfrm>
              <a:off x="0" y="0"/>
              <a:ext cx="812800" cy="916122"/>
            </a:xfrm>
            <a:custGeom>
              <a:avLst/>
              <a:gdLst/>
              <a:ahLst/>
              <a:cxnLst/>
              <a:rect l="l" t="t" r="r" b="b"/>
              <a:pathLst>
                <a:path w="812800" h="916122">
                  <a:moveTo>
                    <a:pt x="652780" y="0"/>
                  </a:moveTo>
                  <a:lnTo>
                    <a:pt x="160020" y="0"/>
                  </a:lnTo>
                  <a:lnTo>
                    <a:pt x="0" y="160020"/>
                  </a:lnTo>
                  <a:lnTo>
                    <a:pt x="0" y="756102"/>
                  </a:lnTo>
                  <a:lnTo>
                    <a:pt x="160020" y="916122"/>
                  </a:lnTo>
                  <a:lnTo>
                    <a:pt x="652780" y="916122"/>
                  </a:lnTo>
                  <a:lnTo>
                    <a:pt x="812800" y="756102"/>
                  </a:lnTo>
                  <a:lnTo>
                    <a:pt x="812800" y="160020"/>
                  </a:lnTo>
                  <a:lnTo>
                    <a:pt x="652780" y="0"/>
                  </a:lnTo>
                  <a:close/>
                </a:path>
              </a:pathLst>
            </a:custGeom>
            <a:solidFill>
              <a:srgbClr val="4660AF">
                <a:alpha val="10980"/>
              </a:srgbClr>
            </a:solidFill>
            <a:ln cap="sq">
              <a:noFill/>
              <a:prstDash val="solid"/>
              <a:miter/>
            </a:ln>
          </p:spPr>
        </p:sp>
        <p:sp>
          <p:nvSpPr>
            <p:cNvPr id="19" name="TextBox 19"/>
            <p:cNvSpPr txBox="1"/>
            <p:nvPr/>
          </p:nvSpPr>
          <p:spPr>
            <a:xfrm>
              <a:off x="63500" y="6350"/>
              <a:ext cx="685800" cy="846272"/>
            </a:xfrm>
            <a:prstGeom prst="rect">
              <a:avLst/>
            </a:prstGeom>
          </p:spPr>
          <p:txBody>
            <a:bodyPr lIns="50800" tIns="50800" rIns="50800" bIns="50800" rtlCol="0" anchor="ctr"/>
            <a:lstStyle/>
            <a:p>
              <a:pPr marL="0" lvl="0" indent="0" algn="ctr">
                <a:lnSpc>
                  <a:spcPts val="3105"/>
                </a:lnSpc>
                <a:spcBef>
                  <a:spcPct val="0"/>
                </a:spcBef>
              </a:pPr>
            </a:p>
          </p:txBody>
        </p:sp>
      </p:grpSp>
      <p:sp>
        <p:nvSpPr>
          <p:cNvPr id="20" name="TextBox 20"/>
          <p:cNvSpPr txBox="1"/>
          <p:nvPr/>
        </p:nvSpPr>
        <p:spPr>
          <a:xfrm>
            <a:off x="7407533" y="4867289"/>
            <a:ext cx="3475130" cy="3295015"/>
          </a:xfrm>
          <a:prstGeom prst="rect">
            <a:avLst/>
          </a:prstGeom>
        </p:spPr>
        <p:txBody>
          <a:bodyPr lIns="0" tIns="0" rIns="0" bIns="0" rtlCol="0" anchor="t">
            <a:spAutoFit/>
          </a:bodyPr>
          <a:lstStyle/>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十字轴直径：28mm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滚针直径：2mm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滚针工作长度：9mm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endParaRPr sz="2400"/>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万向节叉臂承受的弯曲应力校核</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角度补偿能力校核</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endParaRPr sz="2400"/>
          </a:p>
          <a:p>
            <a:pPr marL="0" lvl="0" indent="0" algn="ctr">
              <a:lnSpc>
                <a:spcPts val="2855"/>
              </a:lnSpc>
              <a:spcBef>
                <a:spcPct val="0"/>
              </a:spcBef>
            </a:pPr>
            <a:endParaRPr sz="2400"/>
          </a:p>
        </p:txBody>
      </p:sp>
      <p:grpSp>
        <p:nvGrpSpPr>
          <p:cNvPr id="21" name="Group 21"/>
          <p:cNvGrpSpPr/>
          <p:nvPr/>
        </p:nvGrpSpPr>
        <p:grpSpPr>
          <a:xfrm rot="0">
            <a:off x="8680968" y="2934730"/>
            <a:ext cx="928259" cy="928259"/>
            <a:chOff x="0" y="0"/>
            <a:chExt cx="812800" cy="812800"/>
          </a:xfrm>
        </p:grpSpPr>
        <p:sp>
          <p:nvSpPr>
            <p:cNvPr id="22" name="Freeform 2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4660AF"/>
            </a:solidFill>
          </p:spPr>
        </p:sp>
        <p:sp>
          <p:nvSpPr>
            <p:cNvPr id="23" name="TextBox 23"/>
            <p:cNvSpPr txBox="1"/>
            <p:nvPr/>
          </p:nvSpPr>
          <p:spPr>
            <a:xfrm>
              <a:off x="0" y="0"/>
              <a:ext cx="812800" cy="812800"/>
            </a:xfrm>
            <a:prstGeom prst="rect">
              <a:avLst/>
            </a:prstGeom>
          </p:spPr>
          <p:txBody>
            <a:bodyPr lIns="53600" tIns="53600" rIns="53600" bIns="53600" rtlCol="0" anchor="ctr"/>
            <a:lstStyle/>
            <a:p>
              <a:pPr algn="ctr">
                <a:lnSpc>
                  <a:spcPts val="2400"/>
                </a:lnSpc>
              </a:pPr>
            </a:p>
          </p:txBody>
        </p:sp>
      </p:grpSp>
      <p:sp>
        <p:nvSpPr>
          <p:cNvPr id="24" name="TextBox 24"/>
          <p:cNvSpPr txBox="1"/>
          <p:nvPr/>
        </p:nvSpPr>
        <p:spPr>
          <a:xfrm>
            <a:off x="8573294" y="3032147"/>
            <a:ext cx="1143608" cy="685800"/>
          </a:xfrm>
          <a:prstGeom prst="rect">
            <a:avLst/>
          </a:prstGeom>
        </p:spPr>
        <p:txBody>
          <a:bodyPr lIns="0" tIns="0" rIns="0" bIns="0" rtlCol="0" anchor="t">
            <a:spAutoFit/>
          </a:bodyPr>
          <a:lstStyle/>
          <a:p>
            <a:pPr marL="0" lvl="0" indent="0" algn="ctr">
              <a:lnSpc>
                <a:spcPts val="4775"/>
              </a:lnSpc>
              <a:spcBef>
                <a:spcPct val="0"/>
              </a:spcBef>
            </a:pPr>
            <a:r>
              <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02</a:t>
            </a:r>
            <a:endPar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grpSp>
        <p:nvGrpSpPr>
          <p:cNvPr id="25" name="Group 25"/>
          <p:cNvGrpSpPr/>
          <p:nvPr/>
        </p:nvGrpSpPr>
        <p:grpSpPr>
          <a:xfrm rot="0">
            <a:off x="11895763" y="3371273"/>
            <a:ext cx="4796479" cy="5406202"/>
            <a:chOff x="0" y="0"/>
            <a:chExt cx="812800" cy="916122"/>
          </a:xfrm>
        </p:grpSpPr>
        <p:sp>
          <p:nvSpPr>
            <p:cNvPr id="26" name="Freeform 26"/>
            <p:cNvSpPr/>
            <p:nvPr/>
          </p:nvSpPr>
          <p:spPr>
            <a:xfrm>
              <a:off x="0" y="0"/>
              <a:ext cx="812800" cy="916122"/>
            </a:xfrm>
            <a:custGeom>
              <a:avLst/>
              <a:gdLst/>
              <a:ahLst/>
              <a:cxnLst/>
              <a:rect l="l" t="t" r="r" b="b"/>
              <a:pathLst>
                <a:path w="812800" h="916122">
                  <a:moveTo>
                    <a:pt x="652780" y="0"/>
                  </a:moveTo>
                  <a:lnTo>
                    <a:pt x="160020" y="0"/>
                  </a:lnTo>
                  <a:lnTo>
                    <a:pt x="0" y="160020"/>
                  </a:lnTo>
                  <a:lnTo>
                    <a:pt x="0" y="756102"/>
                  </a:lnTo>
                  <a:lnTo>
                    <a:pt x="160020" y="916122"/>
                  </a:lnTo>
                  <a:lnTo>
                    <a:pt x="652780" y="916122"/>
                  </a:lnTo>
                  <a:lnTo>
                    <a:pt x="812800" y="756102"/>
                  </a:lnTo>
                  <a:lnTo>
                    <a:pt x="812800" y="160020"/>
                  </a:lnTo>
                  <a:lnTo>
                    <a:pt x="652780" y="0"/>
                  </a:lnTo>
                  <a:close/>
                </a:path>
              </a:pathLst>
            </a:custGeom>
            <a:solidFill>
              <a:srgbClr val="1F367F">
                <a:alpha val="10980"/>
              </a:srgbClr>
            </a:solidFill>
            <a:ln cap="sq">
              <a:noFill/>
              <a:prstDash val="solid"/>
              <a:miter/>
            </a:ln>
          </p:spPr>
        </p:sp>
        <p:sp>
          <p:nvSpPr>
            <p:cNvPr id="27" name="TextBox 27"/>
            <p:cNvSpPr txBox="1"/>
            <p:nvPr/>
          </p:nvSpPr>
          <p:spPr>
            <a:xfrm>
              <a:off x="63500" y="6350"/>
              <a:ext cx="685800" cy="846272"/>
            </a:xfrm>
            <a:prstGeom prst="rect">
              <a:avLst/>
            </a:prstGeom>
          </p:spPr>
          <p:txBody>
            <a:bodyPr lIns="50800" tIns="50800" rIns="50800" bIns="50800" rtlCol="0" anchor="ctr"/>
            <a:lstStyle/>
            <a:p>
              <a:pPr marL="0" lvl="0" indent="0" algn="ctr">
                <a:lnSpc>
                  <a:spcPts val="3105"/>
                </a:lnSpc>
                <a:spcBef>
                  <a:spcPct val="0"/>
                </a:spcBef>
              </a:pPr>
            </a:p>
          </p:txBody>
        </p:sp>
      </p:grpSp>
      <p:sp>
        <p:nvSpPr>
          <p:cNvPr id="28" name="TextBox 28"/>
          <p:cNvSpPr txBox="1"/>
          <p:nvPr/>
        </p:nvSpPr>
        <p:spPr>
          <a:xfrm>
            <a:off x="11342537" y="4733068"/>
            <a:ext cx="5916763" cy="4759325"/>
          </a:xfrm>
          <a:prstGeom prst="rect">
            <a:avLst/>
          </a:prstGeom>
        </p:spPr>
        <p:txBody>
          <a:bodyPr lIns="0" tIns="0" rIns="0" bIns="0" rtlCol="0" anchor="t">
            <a:spAutoFit/>
          </a:bodyPr>
          <a:lstStyle/>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前传动轴管外径：55mm </a:t>
            </a: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内径：50mm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后传动轴管外径：50mm 内径：45mm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校核：</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前传动轴临界转速：7200rpm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后传动轴临界转速：4800rpm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前传动轴安全系数：5.28＞2.5</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后传动轴安全系数：3.52＞2.5</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滑动花键设计：</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前传动轴外花键外径：55mm 内径：51mm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2855"/>
              </a:lnSpc>
            </a:pPr>
            <a:r>
              <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后传动轴外花键外径：50mm 内径：46mm</a:t>
            </a:r>
            <a:endParaRPr lang="en-US" sz="24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ctr">
              <a:lnSpc>
                <a:spcPts val="2855"/>
              </a:lnSpc>
              <a:spcBef>
                <a:spcPct val="0"/>
              </a:spcBef>
            </a:pPr>
          </a:p>
          <a:p>
            <a:pPr marL="0" lvl="0" indent="0" algn="ctr">
              <a:lnSpc>
                <a:spcPts val="2855"/>
              </a:lnSpc>
              <a:spcBef>
                <a:spcPct val="0"/>
              </a:spcBef>
            </a:pPr>
          </a:p>
          <a:p>
            <a:pPr marL="0" lvl="0" indent="0" algn="ctr">
              <a:lnSpc>
                <a:spcPts val="2855"/>
              </a:lnSpc>
              <a:spcBef>
                <a:spcPct val="0"/>
              </a:spcBef>
            </a:pPr>
          </a:p>
        </p:txBody>
      </p:sp>
      <p:grpSp>
        <p:nvGrpSpPr>
          <p:cNvPr id="29" name="Group 29"/>
          <p:cNvGrpSpPr/>
          <p:nvPr/>
        </p:nvGrpSpPr>
        <p:grpSpPr>
          <a:xfrm rot="0">
            <a:off x="13829873" y="2934730"/>
            <a:ext cx="928259" cy="928259"/>
            <a:chOff x="0" y="0"/>
            <a:chExt cx="812800" cy="812800"/>
          </a:xfrm>
        </p:grpSpPr>
        <p:sp>
          <p:nvSpPr>
            <p:cNvPr id="30" name="Freeform 3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F367F"/>
            </a:solidFill>
          </p:spPr>
        </p:sp>
        <p:sp>
          <p:nvSpPr>
            <p:cNvPr id="31" name="TextBox 31"/>
            <p:cNvSpPr txBox="1"/>
            <p:nvPr/>
          </p:nvSpPr>
          <p:spPr>
            <a:xfrm>
              <a:off x="0" y="0"/>
              <a:ext cx="812800" cy="812800"/>
            </a:xfrm>
            <a:prstGeom prst="rect">
              <a:avLst/>
            </a:prstGeom>
          </p:spPr>
          <p:txBody>
            <a:bodyPr lIns="53600" tIns="53600" rIns="53600" bIns="53600" rtlCol="0" anchor="ctr"/>
            <a:lstStyle/>
            <a:p>
              <a:pPr algn="ctr">
                <a:lnSpc>
                  <a:spcPts val="2400"/>
                </a:lnSpc>
              </a:pPr>
            </a:p>
          </p:txBody>
        </p:sp>
      </p:grpSp>
      <p:sp>
        <p:nvSpPr>
          <p:cNvPr id="32" name="TextBox 32"/>
          <p:cNvSpPr txBox="1"/>
          <p:nvPr/>
        </p:nvSpPr>
        <p:spPr>
          <a:xfrm>
            <a:off x="13722198" y="3022622"/>
            <a:ext cx="1143608" cy="685800"/>
          </a:xfrm>
          <a:prstGeom prst="rect">
            <a:avLst/>
          </a:prstGeom>
        </p:spPr>
        <p:txBody>
          <a:bodyPr lIns="0" tIns="0" rIns="0" bIns="0" rtlCol="0" anchor="t">
            <a:spAutoFit/>
          </a:bodyPr>
          <a:lstStyle/>
          <a:p>
            <a:pPr marL="0" lvl="0" indent="0" algn="ctr">
              <a:lnSpc>
                <a:spcPts val="4775"/>
              </a:lnSpc>
              <a:spcBef>
                <a:spcPct val="0"/>
              </a:spcBef>
            </a:pPr>
            <a:r>
              <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rPr>
              <a:t>03</a:t>
            </a:r>
            <a:endParaRPr lang="en-US" sz="3980" b="1">
              <a:solidFill>
                <a:srgbClr val="FFFFF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
        <p:nvSpPr>
          <p:cNvPr id="33" name="TextBox 33"/>
          <p:cNvSpPr txBox="1"/>
          <p:nvPr/>
        </p:nvSpPr>
        <p:spPr>
          <a:xfrm>
            <a:off x="2552874" y="4041935"/>
            <a:ext cx="2889059" cy="510158"/>
          </a:xfrm>
          <a:prstGeom prst="rect">
            <a:avLst/>
          </a:prstGeom>
        </p:spPr>
        <p:txBody>
          <a:bodyPr lIns="0" tIns="0" rIns="0" bIns="0" rtlCol="0" anchor="t">
            <a:spAutoFit/>
          </a:bodyPr>
          <a:lstStyle/>
          <a:p>
            <a:pPr marL="0" lvl="0" indent="0" algn="ctr">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计算载荷</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34" name="TextBox 34"/>
          <p:cNvSpPr txBox="1"/>
          <p:nvPr/>
        </p:nvSpPr>
        <p:spPr>
          <a:xfrm>
            <a:off x="7700568" y="4041935"/>
            <a:ext cx="2889059" cy="510158"/>
          </a:xfrm>
          <a:prstGeom prst="rect">
            <a:avLst/>
          </a:prstGeom>
        </p:spPr>
        <p:txBody>
          <a:bodyPr lIns="0" tIns="0" rIns="0" bIns="0" rtlCol="0" anchor="t">
            <a:spAutoFit/>
          </a:bodyPr>
          <a:lstStyle/>
          <a:p>
            <a:pPr marL="0" lvl="0" indent="0" algn="ctr">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十字轴万向节设计</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35" name="TextBox 35"/>
          <p:cNvSpPr txBox="1"/>
          <p:nvPr/>
        </p:nvSpPr>
        <p:spPr>
          <a:xfrm>
            <a:off x="12849473" y="4041935"/>
            <a:ext cx="2889059" cy="510158"/>
          </a:xfrm>
          <a:prstGeom prst="rect">
            <a:avLst/>
          </a:prstGeom>
        </p:spPr>
        <p:txBody>
          <a:bodyPr lIns="0" tIns="0" rIns="0" bIns="0" rtlCol="0" anchor="t">
            <a:spAutoFit/>
          </a:bodyPr>
          <a:lstStyle/>
          <a:p>
            <a:pPr marL="0" lvl="0" indent="0" algn="ctr">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传动轴体设计</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0" y="4859165"/>
            <a:ext cx="18288000" cy="4609280"/>
            <a:chOff x="0" y="0"/>
            <a:chExt cx="4816593" cy="1213967"/>
          </a:xfrm>
        </p:grpSpPr>
        <p:sp>
          <p:nvSpPr>
            <p:cNvPr id="9" name="Freeform 9"/>
            <p:cNvSpPr/>
            <p:nvPr/>
          </p:nvSpPr>
          <p:spPr>
            <a:xfrm>
              <a:off x="0" y="0"/>
              <a:ext cx="4816592" cy="1213967"/>
            </a:xfrm>
            <a:custGeom>
              <a:avLst/>
              <a:gdLst/>
              <a:ahLst/>
              <a:cxnLst/>
              <a:rect l="l" t="t" r="r" b="b"/>
              <a:pathLst>
                <a:path w="4816592" h="1213967">
                  <a:moveTo>
                    <a:pt x="0" y="0"/>
                  </a:moveTo>
                  <a:lnTo>
                    <a:pt x="4816592" y="0"/>
                  </a:lnTo>
                  <a:lnTo>
                    <a:pt x="4816592" y="1213967"/>
                  </a:lnTo>
                  <a:lnTo>
                    <a:pt x="0" y="1213967"/>
                  </a:lnTo>
                  <a:close/>
                </a:path>
              </a:pathLst>
            </a:custGeom>
            <a:solidFill>
              <a:srgbClr val="1F367F"/>
            </a:solidFill>
          </p:spPr>
        </p:sp>
        <p:sp>
          <p:nvSpPr>
            <p:cNvPr id="10" name="TextBox 10"/>
            <p:cNvSpPr txBox="1"/>
            <p:nvPr/>
          </p:nvSpPr>
          <p:spPr>
            <a:xfrm>
              <a:off x="0" y="-57150"/>
              <a:ext cx="4816593" cy="1271117"/>
            </a:xfrm>
            <a:prstGeom prst="rect">
              <a:avLst/>
            </a:prstGeom>
          </p:spPr>
          <p:txBody>
            <a:bodyPr lIns="50800" tIns="50800" rIns="50800" bIns="50800" rtlCol="0" anchor="ctr"/>
            <a:lstStyle/>
            <a:p>
              <a:pPr algn="ctr">
                <a:lnSpc>
                  <a:spcPts val="3105"/>
                </a:lnSpc>
              </a:pPr>
            </a:p>
            <a:p>
              <a:pPr algn="ctr">
                <a:lnSpc>
                  <a:spcPts val="3105"/>
                </a:lnSpc>
              </a:pPr>
            </a:p>
          </p:txBody>
        </p:sp>
      </p:grpSp>
      <p:grpSp>
        <p:nvGrpSpPr>
          <p:cNvPr id="11" name="Group 11"/>
          <p:cNvGrpSpPr/>
          <p:nvPr/>
        </p:nvGrpSpPr>
        <p:grpSpPr>
          <a:xfrm rot="0">
            <a:off x="370981" y="2200142"/>
            <a:ext cx="13118938" cy="5886716"/>
            <a:chOff x="0" y="0"/>
            <a:chExt cx="22255034" cy="9986256"/>
          </a:xfrm>
        </p:grpSpPr>
        <p:sp>
          <p:nvSpPr>
            <p:cNvPr id="12" name="Freeform 12"/>
            <p:cNvSpPr/>
            <p:nvPr/>
          </p:nvSpPr>
          <p:spPr>
            <a:xfrm>
              <a:off x="0" y="0"/>
              <a:ext cx="22255034" cy="9986318"/>
            </a:xfrm>
            <a:custGeom>
              <a:avLst/>
              <a:gdLst/>
              <a:ahLst/>
              <a:cxnLst/>
              <a:rect l="l" t="t" r="r" b="b"/>
              <a:pathLst>
                <a:path w="22255034" h="9986318">
                  <a:moveTo>
                    <a:pt x="0" y="0"/>
                  </a:moveTo>
                  <a:lnTo>
                    <a:pt x="22255034" y="0"/>
                  </a:lnTo>
                  <a:lnTo>
                    <a:pt x="22255034" y="9986318"/>
                  </a:lnTo>
                  <a:lnTo>
                    <a:pt x="0" y="9986318"/>
                  </a:lnTo>
                </a:path>
              </a:pathLst>
            </a:custGeom>
            <a:blipFill>
              <a:blip r:embed="rId1"/>
              <a:stretch>
                <a:fillRect l="-1577" r="-1577"/>
              </a:stretch>
            </a:blipFill>
          </p:spPr>
        </p:sp>
      </p:grpSp>
      <p:sp>
        <p:nvSpPr>
          <p:cNvPr id="13" name="TextBox 13"/>
          <p:cNvSpPr txBox="1"/>
          <p:nvPr/>
        </p:nvSpPr>
        <p:spPr>
          <a:xfrm>
            <a:off x="1421452" y="595312"/>
            <a:ext cx="5576065"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研究成果与展示</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14" name="TextBox 14"/>
          <p:cNvSpPr txBox="1"/>
          <p:nvPr/>
        </p:nvSpPr>
        <p:spPr>
          <a:xfrm>
            <a:off x="13998239" y="6753087"/>
            <a:ext cx="4080432" cy="688086"/>
          </a:xfrm>
          <a:prstGeom prst="rect">
            <a:avLst/>
          </a:prstGeom>
        </p:spPr>
        <p:txBody>
          <a:bodyPr lIns="0" tIns="0" rIns="0" bIns="0" rtlCol="0" anchor="t">
            <a:spAutoFit/>
          </a:bodyPr>
          <a:lstStyle/>
          <a:p>
            <a:pPr marL="0" lvl="0" indent="0" algn="l">
              <a:lnSpc>
                <a:spcPts val="5770"/>
              </a:lnSpc>
              <a:spcBef>
                <a:spcPct val="0"/>
              </a:spcBef>
            </a:pPr>
            <a:r>
              <a:rPr lang="en-US" sz="37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动力系统整体布置</a:t>
            </a:r>
            <a:endParaRPr lang="en-US" sz="37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700000">
            <a:off x="13156868" y="-2330570"/>
            <a:ext cx="4613749" cy="4613749"/>
            <a:chOff x="0" y="0"/>
            <a:chExt cx="1096342" cy="1096342"/>
          </a:xfrm>
        </p:grpSpPr>
        <p:sp>
          <p:nvSpPr>
            <p:cNvPr id="3" name="Freeform 3"/>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4" name="TextBox 4"/>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2700000">
            <a:off x="16098266" y="-640609"/>
            <a:ext cx="4613749" cy="4613749"/>
            <a:chOff x="0" y="0"/>
            <a:chExt cx="1096342" cy="1096342"/>
          </a:xfrm>
        </p:grpSpPr>
        <p:sp>
          <p:nvSpPr>
            <p:cNvPr id="6" name="Freeform 6"/>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7" name="TextBox 7"/>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2700000">
            <a:off x="16552021" y="3567807"/>
            <a:ext cx="2156443" cy="2156443"/>
            <a:chOff x="0" y="0"/>
            <a:chExt cx="512425" cy="512425"/>
          </a:xfrm>
        </p:grpSpPr>
        <p:sp>
          <p:nvSpPr>
            <p:cNvPr id="9" name="Freeform 9"/>
            <p:cNvSpPr/>
            <p:nvPr/>
          </p:nvSpPr>
          <p:spPr>
            <a:xfrm>
              <a:off x="0" y="0"/>
              <a:ext cx="512425" cy="512425"/>
            </a:xfrm>
            <a:custGeom>
              <a:avLst/>
              <a:gdLst/>
              <a:ahLst/>
              <a:cxnLst/>
              <a:rect l="l" t="t" r="r" b="b"/>
              <a:pathLst>
                <a:path w="512425" h="512425">
                  <a:moveTo>
                    <a:pt x="0" y="0"/>
                  </a:moveTo>
                  <a:lnTo>
                    <a:pt x="512425" y="0"/>
                  </a:lnTo>
                  <a:lnTo>
                    <a:pt x="512425" y="512425"/>
                  </a:lnTo>
                  <a:lnTo>
                    <a:pt x="0" y="512425"/>
                  </a:lnTo>
                  <a:close/>
                </a:path>
              </a:pathLst>
            </a:custGeom>
            <a:solidFill>
              <a:srgbClr val="1F367F">
                <a:alpha val="89804"/>
              </a:srgbClr>
            </a:solidFill>
          </p:spPr>
        </p:sp>
        <p:sp>
          <p:nvSpPr>
            <p:cNvPr id="10" name="TextBox 10"/>
            <p:cNvSpPr txBox="1"/>
            <p:nvPr/>
          </p:nvSpPr>
          <p:spPr>
            <a:xfrm>
              <a:off x="0" y="-47625"/>
              <a:ext cx="512425" cy="560050"/>
            </a:xfrm>
            <a:prstGeom prst="rect">
              <a:avLst/>
            </a:prstGeom>
          </p:spPr>
          <p:txBody>
            <a:bodyPr lIns="50800" tIns="50800" rIns="50800" bIns="50800" rtlCol="0" anchor="ctr"/>
            <a:lstStyle/>
            <a:p>
              <a:pPr algn="ctr">
                <a:lnSpc>
                  <a:spcPts val="3625"/>
                </a:lnSpc>
              </a:pPr>
            </a:p>
          </p:txBody>
        </p:sp>
      </p:grpSp>
      <p:grpSp>
        <p:nvGrpSpPr>
          <p:cNvPr id="11" name="Group 11"/>
          <p:cNvGrpSpPr/>
          <p:nvPr/>
        </p:nvGrpSpPr>
        <p:grpSpPr>
          <a:xfrm rot="8100000">
            <a:off x="-151656" y="9116145"/>
            <a:ext cx="4162673" cy="4162673"/>
            <a:chOff x="0" y="0"/>
            <a:chExt cx="1096342" cy="1096342"/>
          </a:xfrm>
        </p:grpSpPr>
        <p:sp>
          <p:nvSpPr>
            <p:cNvPr id="12" name="Freeform 12"/>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13" name="TextBox 13"/>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14" name="Group 14"/>
          <p:cNvGrpSpPr/>
          <p:nvPr/>
        </p:nvGrpSpPr>
        <p:grpSpPr>
          <a:xfrm rot="8100000">
            <a:off x="-2805480" y="7591408"/>
            <a:ext cx="4162673" cy="4162673"/>
            <a:chOff x="0" y="0"/>
            <a:chExt cx="1096342" cy="1096342"/>
          </a:xfrm>
        </p:grpSpPr>
        <p:sp>
          <p:nvSpPr>
            <p:cNvPr id="15" name="Freeform 15"/>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16" name="TextBox 16"/>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17" name="Group 17"/>
          <p:cNvGrpSpPr/>
          <p:nvPr/>
        </p:nvGrpSpPr>
        <p:grpSpPr>
          <a:xfrm rot="8100000">
            <a:off x="-997811" y="6011500"/>
            <a:ext cx="1945612" cy="1945612"/>
            <a:chOff x="0" y="0"/>
            <a:chExt cx="512425" cy="512425"/>
          </a:xfrm>
        </p:grpSpPr>
        <p:sp>
          <p:nvSpPr>
            <p:cNvPr id="18" name="Freeform 18"/>
            <p:cNvSpPr/>
            <p:nvPr/>
          </p:nvSpPr>
          <p:spPr>
            <a:xfrm>
              <a:off x="0" y="0"/>
              <a:ext cx="512425" cy="512425"/>
            </a:xfrm>
            <a:custGeom>
              <a:avLst/>
              <a:gdLst/>
              <a:ahLst/>
              <a:cxnLst/>
              <a:rect l="l" t="t" r="r" b="b"/>
              <a:pathLst>
                <a:path w="512425" h="512425">
                  <a:moveTo>
                    <a:pt x="0" y="0"/>
                  </a:moveTo>
                  <a:lnTo>
                    <a:pt x="512425" y="0"/>
                  </a:lnTo>
                  <a:lnTo>
                    <a:pt x="512425" y="512425"/>
                  </a:lnTo>
                  <a:lnTo>
                    <a:pt x="0" y="512425"/>
                  </a:lnTo>
                  <a:close/>
                </a:path>
              </a:pathLst>
            </a:custGeom>
            <a:solidFill>
              <a:srgbClr val="1F367F">
                <a:alpha val="89804"/>
              </a:srgbClr>
            </a:solidFill>
          </p:spPr>
        </p:sp>
        <p:sp>
          <p:nvSpPr>
            <p:cNvPr id="19" name="TextBox 19"/>
            <p:cNvSpPr txBox="1"/>
            <p:nvPr/>
          </p:nvSpPr>
          <p:spPr>
            <a:xfrm>
              <a:off x="0" y="-47625"/>
              <a:ext cx="512425" cy="560050"/>
            </a:xfrm>
            <a:prstGeom prst="rect">
              <a:avLst/>
            </a:prstGeom>
          </p:spPr>
          <p:txBody>
            <a:bodyPr lIns="50800" tIns="50800" rIns="50800" bIns="50800" rtlCol="0" anchor="ctr"/>
            <a:lstStyle/>
            <a:p>
              <a:pPr algn="ctr">
                <a:lnSpc>
                  <a:spcPts val="3625"/>
                </a:lnSpc>
              </a:pPr>
            </a:p>
          </p:txBody>
        </p:sp>
      </p:grpSp>
      <p:grpSp>
        <p:nvGrpSpPr>
          <p:cNvPr id="20" name="Group 20"/>
          <p:cNvGrpSpPr/>
          <p:nvPr/>
        </p:nvGrpSpPr>
        <p:grpSpPr>
          <a:xfrm rot="0">
            <a:off x="2672131" y="4857293"/>
            <a:ext cx="5687183" cy="494082"/>
            <a:chOff x="0" y="0"/>
            <a:chExt cx="1497859" cy="130129"/>
          </a:xfrm>
        </p:grpSpPr>
        <p:sp>
          <p:nvSpPr>
            <p:cNvPr id="21" name="Freeform 21"/>
            <p:cNvSpPr/>
            <p:nvPr/>
          </p:nvSpPr>
          <p:spPr>
            <a:xfrm>
              <a:off x="0" y="0"/>
              <a:ext cx="1497859" cy="130129"/>
            </a:xfrm>
            <a:custGeom>
              <a:avLst/>
              <a:gdLst/>
              <a:ahLst/>
              <a:cxnLst/>
              <a:rect l="l" t="t" r="r" b="b"/>
              <a:pathLst>
                <a:path w="1497859" h="130129">
                  <a:moveTo>
                    <a:pt x="0" y="0"/>
                  </a:moveTo>
                  <a:lnTo>
                    <a:pt x="1497859" y="0"/>
                  </a:lnTo>
                  <a:lnTo>
                    <a:pt x="1497859" y="130129"/>
                  </a:lnTo>
                  <a:lnTo>
                    <a:pt x="0" y="130129"/>
                  </a:lnTo>
                  <a:close/>
                </a:path>
              </a:pathLst>
            </a:custGeom>
            <a:solidFill>
              <a:srgbClr val="1F367F"/>
            </a:solidFill>
          </p:spPr>
        </p:sp>
        <p:sp>
          <p:nvSpPr>
            <p:cNvPr id="22" name="TextBox 22"/>
            <p:cNvSpPr txBox="1"/>
            <p:nvPr/>
          </p:nvSpPr>
          <p:spPr>
            <a:xfrm>
              <a:off x="0" y="-47625"/>
              <a:ext cx="1497859" cy="177754"/>
            </a:xfrm>
            <a:prstGeom prst="rect">
              <a:avLst/>
            </a:prstGeom>
          </p:spPr>
          <p:txBody>
            <a:bodyPr lIns="50800" tIns="50800" rIns="50800" bIns="50800" rtlCol="0" anchor="ctr"/>
            <a:lstStyle/>
            <a:p>
              <a:pPr algn="ctr">
                <a:lnSpc>
                  <a:spcPts val="3625"/>
                </a:lnSpc>
              </a:pPr>
            </a:p>
          </p:txBody>
        </p:sp>
      </p:grpSp>
      <p:sp>
        <p:nvSpPr>
          <p:cNvPr id="23" name="TextBox 23"/>
          <p:cNvSpPr txBox="1"/>
          <p:nvPr/>
        </p:nvSpPr>
        <p:spPr>
          <a:xfrm>
            <a:off x="2672131" y="3396728"/>
            <a:ext cx="7643783" cy="1306830"/>
          </a:xfrm>
          <a:prstGeom prst="rect">
            <a:avLst/>
          </a:prstGeom>
        </p:spPr>
        <p:txBody>
          <a:bodyPr lIns="0" tIns="0" rIns="0" bIns="0" rtlCol="0" anchor="t">
            <a:spAutoFit/>
          </a:bodyPr>
          <a:lstStyle/>
          <a:p>
            <a:pPr marL="0" lvl="0" indent="0" algn="l">
              <a:lnSpc>
                <a:spcPts val="10560"/>
              </a:lnSpc>
              <a:spcBef>
                <a:spcPct val="0"/>
              </a:spcBef>
            </a:pPr>
            <a:r>
              <a:rPr lang="en-US" sz="80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论文总结与致谢</a:t>
            </a:r>
            <a:endParaRPr lang="en-US" sz="8000"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endParaRPr>
          </a:p>
        </p:txBody>
      </p:sp>
      <p:sp>
        <p:nvSpPr>
          <p:cNvPr id="24" name="TextBox 24"/>
          <p:cNvSpPr txBox="1"/>
          <p:nvPr/>
        </p:nvSpPr>
        <p:spPr>
          <a:xfrm>
            <a:off x="3041079" y="4923359"/>
            <a:ext cx="5318235" cy="323850"/>
          </a:xfrm>
          <a:prstGeom prst="rect">
            <a:avLst/>
          </a:prstGeom>
        </p:spPr>
        <p:txBody>
          <a:bodyPr lIns="0" tIns="0" rIns="0" bIns="0" rtlCol="0" anchor="t">
            <a:spAutoFit/>
          </a:bodyPr>
          <a:lstStyle/>
          <a:p>
            <a:pPr marL="0" lvl="0" indent="0" algn="l">
              <a:lnSpc>
                <a:spcPts val="2280"/>
              </a:lnSpc>
              <a:spcBef>
                <a:spcPct val="0"/>
              </a:spcBef>
            </a:pPr>
            <a:r>
              <a:rPr lang="en-US" sz="1900">
                <a:solidFill>
                  <a:srgbClr val="FFFFFF"/>
                </a:solidFill>
                <a:latin typeface="Akzidenz-Grotesk" panose="02000503030000020003"/>
                <a:ea typeface="Akzidenz-Grotesk" panose="02000503030000020003"/>
                <a:cs typeface="Akzidenz-Grotesk" panose="02000503030000020003"/>
                <a:sym typeface="Akzidenz-Grotesk" panose="02000503030000020003"/>
              </a:rPr>
              <a:t>Background significance of the topic</a:t>
            </a:r>
            <a:endParaRPr lang="en-US" sz="1900">
              <a:solidFill>
                <a:srgbClr val="FFFFFF"/>
              </a:solidFill>
              <a:latin typeface="Akzidenz-Grotesk" panose="02000503030000020003"/>
              <a:ea typeface="Akzidenz-Grotesk" panose="02000503030000020003"/>
              <a:cs typeface="Akzidenz-Grotesk" panose="02000503030000020003"/>
              <a:sym typeface="Akzidenz-Grotesk" panose="02000503030000020003"/>
            </a:endParaRPr>
          </a:p>
        </p:txBody>
      </p:sp>
      <p:sp>
        <p:nvSpPr>
          <p:cNvPr id="25" name="TextBox 25"/>
          <p:cNvSpPr txBox="1"/>
          <p:nvPr/>
        </p:nvSpPr>
        <p:spPr>
          <a:xfrm>
            <a:off x="10306389" y="3375547"/>
            <a:ext cx="4756725" cy="3267075"/>
          </a:xfrm>
          <a:prstGeom prst="rect">
            <a:avLst/>
          </a:prstGeom>
        </p:spPr>
        <p:txBody>
          <a:bodyPr lIns="0" tIns="0" rIns="0" bIns="0" rtlCol="0" anchor="t">
            <a:spAutoFit/>
          </a:bodyPr>
          <a:lstStyle/>
          <a:p>
            <a:pPr algn="r">
              <a:lnSpc>
                <a:spcPts val="22800"/>
              </a:lnSpc>
            </a:pPr>
            <a:r>
              <a:rPr lang="en-US" sz="190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rPr>
              <a:t>04.</a:t>
            </a:r>
            <a:endParaRPr lang="en-US" sz="19000" b="1">
              <a:solidFill>
                <a:srgbClr val="1F367F"/>
              </a:solidFill>
              <a:latin typeface="Akzidenz-Grotesk Bold" panose="02000803050000020004"/>
              <a:ea typeface="Akzidenz-Grotesk Bold" panose="02000803050000020004"/>
              <a:cs typeface="Akzidenz-Grotesk Bold" panose="02000803050000020004"/>
              <a:sym typeface="Akzidenz-Grotesk Bold" panose="020008030500000200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9476566" y="6750139"/>
            <a:ext cx="1080630" cy="1080630"/>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4660AF"/>
            </a:solidFill>
          </p:spPr>
        </p:sp>
        <p:sp>
          <p:nvSpPr>
            <p:cNvPr id="10" name="TextBox 10"/>
            <p:cNvSpPr txBox="1"/>
            <p:nvPr/>
          </p:nvSpPr>
          <p:spPr>
            <a:xfrm>
              <a:off x="0" y="-57150"/>
              <a:ext cx="812800" cy="869950"/>
            </a:xfrm>
            <a:prstGeom prst="rect">
              <a:avLst/>
            </a:prstGeom>
          </p:spPr>
          <p:txBody>
            <a:bodyPr lIns="53210" tIns="53210" rIns="53210" bIns="53210" rtlCol="0" anchor="ctr"/>
            <a:lstStyle/>
            <a:p>
              <a:pPr algn="ctr">
                <a:lnSpc>
                  <a:spcPts val="3105"/>
                </a:lnSpc>
              </a:pPr>
            </a:p>
          </p:txBody>
        </p:sp>
      </p:grpSp>
      <p:grpSp>
        <p:nvGrpSpPr>
          <p:cNvPr id="11" name="Group 11"/>
          <p:cNvGrpSpPr/>
          <p:nvPr/>
        </p:nvGrpSpPr>
        <p:grpSpPr>
          <a:xfrm rot="0">
            <a:off x="9476566" y="3868776"/>
            <a:ext cx="1080630" cy="1080630"/>
            <a:chOff x="0" y="0"/>
            <a:chExt cx="812800" cy="812800"/>
          </a:xfrm>
        </p:grpSpPr>
        <p:sp>
          <p:nvSpPr>
            <p:cNvPr id="12" name="Freeform 1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F367F"/>
            </a:solidFill>
          </p:spPr>
        </p:sp>
        <p:sp>
          <p:nvSpPr>
            <p:cNvPr id="13" name="TextBox 13"/>
            <p:cNvSpPr txBox="1"/>
            <p:nvPr/>
          </p:nvSpPr>
          <p:spPr>
            <a:xfrm>
              <a:off x="0" y="-57150"/>
              <a:ext cx="812800" cy="869950"/>
            </a:xfrm>
            <a:prstGeom prst="rect">
              <a:avLst/>
            </a:prstGeom>
          </p:spPr>
          <p:txBody>
            <a:bodyPr lIns="53210" tIns="53210" rIns="53210" bIns="53210" rtlCol="0" anchor="ctr"/>
            <a:lstStyle/>
            <a:p>
              <a:pPr algn="ctr">
                <a:lnSpc>
                  <a:spcPts val="3105"/>
                </a:lnSpc>
              </a:pPr>
            </a:p>
          </p:txBody>
        </p:sp>
      </p:grpSp>
      <p:grpSp>
        <p:nvGrpSpPr>
          <p:cNvPr id="14" name="Group 14"/>
          <p:cNvGrpSpPr/>
          <p:nvPr/>
        </p:nvGrpSpPr>
        <p:grpSpPr>
          <a:xfrm rot="5400000">
            <a:off x="4695222" y="1457335"/>
            <a:ext cx="2328913" cy="5903512"/>
            <a:chOff x="0" y="0"/>
            <a:chExt cx="468310" cy="1187109"/>
          </a:xfrm>
        </p:grpSpPr>
        <p:sp>
          <p:nvSpPr>
            <p:cNvPr id="15" name="Freeform 15"/>
            <p:cNvSpPr/>
            <p:nvPr/>
          </p:nvSpPr>
          <p:spPr>
            <a:xfrm>
              <a:off x="0" y="0"/>
              <a:ext cx="468310" cy="1187109"/>
            </a:xfrm>
            <a:custGeom>
              <a:avLst/>
              <a:gdLst/>
              <a:ahLst/>
              <a:cxnLst/>
              <a:rect l="l" t="t" r="r" b="b"/>
              <a:pathLst>
                <a:path w="468310" h="1187109">
                  <a:moveTo>
                    <a:pt x="468310" y="0"/>
                  </a:moveTo>
                  <a:lnTo>
                    <a:pt x="468310" y="1072809"/>
                  </a:lnTo>
                  <a:lnTo>
                    <a:pt x="234155" y="1187109"/>
                  </a:lnTo>
                  <a:lnTo>
                    <a:pt x="0" y="1072809"/>
                  </a:lnTo>
                  <a:lnTo>
                    <a:pt x="0" y="0"/>
                  </a:lnTo>
                  <a:lnTo>
                    <a:pt x="468310" y="0"/>
                  </a:lnTo>
                  <a:close/>
                </a:path>
              </a:pathLst>
            </a:custGeom>
            <a:solidFill>
              <a:srgbClr val="000000">
                <a:alpha val="0"/>
              </a:srgbClr>
            </a:solidFill>
            <a:ln w="19050" cap="sq">
              <a:solidFill>
                <a:srgbClr val="4660AF"/>
              </a:solidFill>
              <a:prstDash val="solid"/>
              <a:miter/>
            </a:ln>
          </p:spPr>
        </p:sp>
        <p:sp>
          <p:nvSpPr>
            <p:cNvPr id="16" name="TextBox 16"/>
            <p:cNvSpPr txBox="1"/>
            <p:nvPr/>
          </p:nvSpPr>
          <p:spPr>
            <a:xfrm>
              <a:off x="0" y="-47625"/>
              <a:ext cx="468310" cy="1120434"/>
            </a:xfrm>
            <a:prstGeom prst="rect">
              <a:avLst/>
            </a:prstGeom>
          </p:spPr>
          <p:txBody>
            <a:bodyPr lIns="50800" tIns="50800" rIns="50800" bIns="50800" rtlCol="0" anchor="ctr"/>
            <a:lstStyle/>
            <a:p>
              <a:pPr algn="ctr">
                <a:lnSpc>
                  <a:spcPts val="3545"/>
                </a:lnSpc>
              </a:pPr>
            </a:p>
          </p:txBody>
        </p:sp>
      </p:grpSp>
      <p:grpSp>
        <p:nvGrpSpPr>
          <p:cNvPr id="17" name="Group 17"/>
          <p:cNvGrpSpPr/>
          <p:nvPr/>
        </p:nvGrpSpPr>
        <p:grpSpPr>
          <a:xfrm rot="0">
            <a:off x="1716301" y="3868776"/>
            <a:ext cx="1080630" cy="1080630"/>
            <a:chOff x="0" y="0"/>
            <a:chExt cx="812800" cy="812800"/>
          </a:xfrm>
        </p:grpSpPr>
        <p:sp>
          <p:nvSpPr>
            <p:cNvPr id="18" name="Freeform 1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4660AF"/>
            </a:solidFill>
          </p:spPr>
        </p:sp>
        <p:sp>
          <p:nvSpPr>
            <p:cNvPr id="19" name="TextBox 19"/>
            <p:cNvSpPr txBox="1"/>
            <p:nvPr/>
          </p:nvSpPr>
          <p:spPr>
            <a:xfrm>
              <a:off x="0" y="-57150"/>
              <a:ext cx="812800" cy="869950"/>
            </a:xfrm>
            <a:prstGeom prst="rect">
              <a:avLst/>
            </a:prstGeom>
          </p:spPr>
          <p:txBody>
            <a:bodyPr lIns="53210" tIns="53210" rIns="53210" bIns="53210" rtlCol="0" anchor="ctr"/>
            <a:lstStyle/>
            <a:p>
              <a:pPr algn="ctr">
                <a:lnSpc>
                  <a:spcPts val="3105"/>
                </a:lnSpc>
              </a:pPr>
            </a:p>
          </p:txBody>
        </p:sp>
      </p:grpSp>
      <p:grpSp>
        <p:nvGrpSpPr>
          <p:cNvPr id="20" name="Group 20"/>
          <p:cNvGrpSpPr/>
          <p:nvPr/>
        </p:nvGrpSpPr>
        <p:grpSpPr>
          <a:xfrm rot="5400000">
            <a:off x="12455487" y="1457335"/>
            <a:ext cx="2328913" cy="5903512"/>
            <a:chOff x="0" y="0"/>
            <a:chExt cx="468310" cy="1187109"/>
          </a:xfrm>
        </p:grpSpPr>
        <p:sp>
          <p:nvSpPr>
            <p:cNvPr id="21" name="Freeform 21"/>
            <p:cNvSpPr/>
            <p:nvPr/>
          </p:nvSpPr>
          <p:spPr>
            <a:xfrm>
              <a:off x="0" y="0"/>
              <a:ext cx="468310" cy="1187109"/>
            </a:xfrm>
            <a:custGeom>
              <a:avLst/>
              <a:gdLst/>
              <a:ahLst/>
              <a:cxnLst/>
              <a:rect l="l" t="t" r="r" b="b"/>
              <a:pathLst>
                <a:path w="468310" h="1187109">
                  <a:moveTo>
                    <a:pt x="468310" y="0"/>
                  </a:moveTo>
                  <a:lnTo>
                    <a:pt x="468310" y="1072809"/>
                  </a:lnTo>
                  <a:lnTo>
                    <a:pt x="234155" y="1187109"/>
                  </a:lnTo>
                  <a:lnTo>
                    <a:pt x="0" y="1072809"/>
                  </a:lnTo>
                  <a:lnTo>
                    <a:pt x="0" y="0"/>
                  </a:lnTo>
                  <a:lnTo>
                    <a:pt x="468310" y="0"/>
                  </a:lnTo>
                  <a:close/>
                </a:path>
              </a:pathLst>
            </a:custGeom>
            <a:solidFill>
              <a:srgbClr val="000000">
                <a:alpha val="0"/>
              </a:srgbClr>
            </a:solidFill>
            <a:ln w="19050" cap="sq">
              <a:solidFill>
                <a:srgbClr val="1F367F"/>
              </a:solidFill>
              <a:prstDash val="solid"/>
              <a:miter/>
            </a:ln>
          </p:spPr>
        </p:sp>
        <p:sp>
          <p:nvSpPr>
            <p:cNvPr id="22" name="TextBox 22"/>
            <p:cNvSpPr txBox="1"/>
            <p:nvPr/>
          </p:nvSpPr>
          <p:spPr>
            <a:xfrm>
              <a:off x="0" y="-47625"/>
              <a:ext cx="468310" cy="1120434"/>
            </a:xfrm>
            <a:prstGeom prst="rect">
              <a:avLst/>
            </a:prstGeom>
          </p:spPr>
          <p:txBody>
            <a:bodyPr lIns="50800" tIns="50800" rIns="50800" bIns="50800" rtlCol="0" anchor="ctr"/>
            <a:lstStyle/>
            <a:p>
              <a:pPr algn="ctr">
                <a:lnSpc>
                  <a:spcPts val="3545"/>
                </a:lnSpc>
              </a:pPr>
            </a:p>
          </p:txBody>
        </p:sp>
      </p:grpSp>
      <p:grpSp>
        <p:nvGrpSpPr>
          <p:cNvPr id="23" name="Group 23"/>
          <p:cNvGrpSpPr/>
          <p:nvPr/>
        </p:nvGrpSpPr>
        <p:grpSpPr>
          <a:xfrm rot="5400000">
            <a:off x="4695222" y="4338698"/>
            <a:ext cx="2328913" cy="5903512"/>
            <a:chOff x="0" y="0"/>
            <a:chExt cx="468310" cy="1187109"/>
          </a:xfrm>
        </p:grpSpPr>
        <p:sp>
          <p:nvSpPr>
            <p:cNvPr id="24" name="Freeform 24"/>
            <p:cNvSpPr/>
            <p:nvPr/>
          </p:nvSpPr>
          <p:spPr>
            <a:xfrm>
              <a:off x="0" y="0"/>
              <a:ext cx="468310" cy="1187109"/>
            </a:xfrm>
            <a:custGeom>
              <a:avLst/>
              <a:gdLst/>
              <a:ahLst/>
              <a:cxnLst/>
              <a:rect l="l" t="t" r="r" b="b"/>
              <a:pathLst>
                <a:path w="468310" h="1187109">
                  <a:moveTo>
                    <a:pt x="468310" y="0"/>
                  </a:moveTo>
                  <a:lnTo>
                    <a:pt x="468310" y="1072809"/>
                  </a:lnTo>
                  <a:lnTo>
                    <a:pt x="234155" y="1187109"/>
                  </a:lnTo>
                  <a:lnTo>
                    <a:pt x="0" y="1072809"/>
                  </a:lnTo>
                  <a:lnTo>
                    <a:pt x="0" y="0"/>
                  </a:lnTo>
                  <a:lnTo>
                    <a:pt x="468310" y="0"/>
                  </a:lnTo>
                  <a:close/>
                </a:path>
              </a:pathLst>
            </a:custGeom>
            <a:solidFill>
              <a:srgbClr val="000000">
                <a:alpha val="0"/>
              </a:srgbClr>
            </a:solidFill>
            <a:ln w="19050" cap="sq">
              <a:solidFill>
                <a:srgbClr val="1F367F"/>
              </a:solidFill>
              <a:prstDash val="solid"/>
              <a:miter/>
            </a:ln>
          </p:spPr>
        </p:sp>
        <p:sp>
          <p:nvSpPr>
            <p:cNvPr id="25" name="TextBox 25"/>
            <p:cNvSpPr txBox="1"/>
            <p:nvPr/>
          </p:nvSpPr>
          <p:spPr>
            <a:xfrm>
              <a:off x="0" y="-47625"/>
              <a:ext cx="468310" cy="1120434"/>
            </a:xfrm>
            <a:prstGeom prst="rect">
              <a:avLst/>
            </a:prstGeom>
          </p:spPr>
          <p:txBody>
            <a:bodyPr lIns="50800" tIns="50800" rIns="50800" bIns="50800" rtlCol="0" anchor="ctr"/>
            <a:lstStyle/>
            <a:p>
              <a:pPr algn="ctr">
                <a:lnSpc>
                  <a:spcPts val="3545"/>
                </a:lnSpc>
              </a:pPr>
            </a:p>
          </p:txBody>
        </p:sp>
      </p:grpSp>
      <p:grpSp>
        <p:nvGrpSpPr>
          <p:cNvPr id="26" name="Group 26"/>
          <p:cNvGrpSpPr/>
          <p:nvPr/>
        </p:nvGrpSpPr>
        <p:grpSpPr>
          <a:xfrm rot="0">
            <a:off x="1716301" y="6750139"/>
            <a:ext cx="1080630" cy="1080630"/>
            <a:chOff x="0" y="0"/>
            <a:chExt cx="812800" cy="812800"/>
          </a:xfrm>
        </p:grpSpPr>
        <p:sp>
          <p:nvSpPr>
            <p:cNvPr id="27" name="Freeform 2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F367F"/>
            </a:solidFill>
          </p:spPr>
        </p:sp>
        <p:sp>
          <p:nvSpPr>
            <p:cNvPr id="28" name="TextBox 28"/>
            <p:cNvSpPr txBox="1"/>
            <p:nvPr/>
          </p:nvSpPr>
          <p:spPr>
            <a:xfrm>
              <a:off x="0" y="-57150"/>
              <a:ext cx="812800" cy="869950"/>
            </a:xfrm>
            <a:prstGeom prst="rect">
              <a:avLst/>
            </a:prstGeom>
          </p:spPr>
          <p:txBody>
            <a:bodyPr lIns="53210" tIns="53210" rIns="53210" bIns="53210" rtlCol="0" anchor="ctr"/>
            <a:lstStyle/>
            <a:p>
              <a:pPr algn="ctr">
                <a:lnSpc>
                  <a:spcPts val="3105"/>
                </a:lnSpc>
              </a:pPr>
            </a:p>
          </p:txBody>
        </p:sp>
      </p:grpSp>
      <p:grpSp>
        <p:nvGrpSpPr>
          <p:cNvPr id="29" name="Group 29"/>
          <p:cNvGrpSpPr/>
          <p:nvPr/>
        </p:nvGrpSpPr>
        <p:grpSpPr>
          <a:xfrm rot="5400000">
            <a:off x="12455487" y="4338698"/>
            <a:ext cx="2328913" cy="5903512"/>
            <a:chOff x="0" y="0"/>
            <a:chExt cx="468310" cy="1187109"/>
          </a:xfrm>
        </p:grpSpPr>
        <p:sp>
          <p:nvSpPr>
            <p:cNvPr id="30" name="Freeform 30"/>
            <p:cNvSpPr/>
            <p:nvPr/>
          </p:nvSpPr>
          <p:spPr>
            <a:xfrm>
              <a:off x="0" y="0"/>
              <a:ext cx="468310" cy="1187109"/>
            </a:xfrm>
            <a:custGeom>
              <a:avLst/>
              <a:gdLst/>
              <a:ahLst/>
              <a:cxnLst/>
              <a:rect l="l" t="t" r="r" b="b"/>
              <a:pathLst>
                <a:path w="468310" h="1187109">
                  <a:moveTo>
                    <a:pt x="468310" y="0"/>
                  </a:moveTo>
                  <a:lnTo>
                    <a:pt x="468310" y="1072809"/>
                  </a:lnTo>
                  <a:lnTo>
                    <a:pt x="234155" y="1187109"/>
                  </a:lnTo>
                  <a:lnTo>
                    <a:pt x="0" y="1072809"/>
                  </a:lnTo>
                  <a:lnTo>
                    <a:pt x="0" y="0"/>
                  </a:lnTo>
                  <a:lnTo>
                    <a:pt x="468310" y="0"/>
                  </a:lnTo>
                  <a:close/>
                </a:path>
              </a:pathLst>
            </a:custGeom>
            <a:solidFill>
              <a:srgbClr val="000000">
                <a:alpha val="0"/>
              </a:srgbClr>
            </a:solidFill>
            <a:ln w="19050" cap="sq">
              <a:solidFill>
                <a:srgbClr val="4660AF"/>
              </a:solidFill>
              <a:prstDash val="solid"/>
              <a:miter/>
            </a:ln>
          </p:spPr>
        </p:sp>
        <p:sp>
          <p:nvSpPr>
            <p:cNvPr id="31" name="TextBox 31"/>
            <p:cNvSpPr txBox="1"/>
            <p:nvPr/>
          </p:nvSpPr>
          <p:spPr>
            <a:xfrm>
              <a:off x="0" y="-47625"/>
              <a:ext cx="468310" cy="1120434"/>
            </a:xfrm>
            <a:prstGeom prst="rect">
              <a:avLst/>
            </a:prstGeom>
          </p:spPr>
          <p:txBody>
            <a:bodyPr lIns="50800" tIns="50800" rIns="50800" bIns="50800" rtlCol="0" anchor="ctr"/>
            <a:lstStyle/>
            <a:p>
              <a:pPr algn="ctr">
                <a:lnSpc>
                  <a:spcPts val="3545"/>
                </a:lnSpc>
              </a:pPr>
            </a:p>
          </p:txBody>
        </p:sp>
      </p:grpSp>
      <p:sp>
        <p:nvSpPr>
          <p:cNvPr id="32" name="Freeform 32"/>
          <p:cNvSpPr/>
          <p:nvPr/>
        </p:nvSpPr>
        <p:spPr>
          <a:xfrm>
            <a:off x="9702053" y="6975626"/>
            <a:ext cx="629656" cy="629656"/>
          </a:xfrm>
          <a:custGeom>
            <a:avLst/>
            <a:gdLst/>
            <a:ahLst/>
            <a:cxnLst/>
            <a:rect l="l" t="t" r="r" b="b"/>
            <a:pathLst>
              <a:path w="629656" h="629656">
                <a:moveTo>
                  <a:pt x="0" y="0"/>
                </a:moveTo>
                <a:lnTo>
                  <a:pt x="629656" y="0"/>
                </a:lnTo>
                <a:lnTo>
                  <a:pt x="629656" y="629656"/>
                </a:lnTo>
                <a:lnTo>
                  <a:pt x="0" y="62965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3" name="Freeform 33"/>
          <p:cNvSpPr/>
          <p:nvPr/>
        </p:nvSpPr>
        <p:spPr>
          <a:xfrm>
            <a:off x="1904824" y="7031407"/>
            <a:ext cx="703583" cy="518093"/>
          </a:xfrm>
          <a:custGeom>
            <a:avLst/>
            <a:gdLst/>
            <a:ahLst/>
            <a:cxnLst/>
            <a:rect l="l" t="t" r="r" b="b"/>
            <a:pathLst>
              <a:path w="703583" h="518093">
                <a:moveTo>
                  <a:pt x="0" y="0"/>
                </a:moveTo>
                <a:lnTo>
                  <a:pt x="703583" y="0"/>
                </a:lnTo>
                <a:lnTo>
                  <a:pt x="703583" y="518093"/>
                </a:lnTo>
                <a:lnTo>
                  <a:pt x="0" y="5180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4" name="Freeform 34"/>
          <p:cNvSpPr/>
          <p:nvPr/>
        </p:nvSpPr>
        <p:spPr>
          <a:xfrm>
            <a:off x="9723804" y="4094263"/>
            <a:ext cx="586153" cy="629656"/>
          </a:xfrm>
          <a:custGeom>
            <a:avLst/>
            <a:gdLst/>
            <a:ahLst/>
            <a:cxnLst/>
            <a:rect l="l" t="t" r="r" b="b"/>
            <a:pathLst>
              <a:path w="586153" h="629656">
                <a:moveTo>
                  <a:pt x="0" y="0"/>
                </a:moveTo>
                <a:lnTo>
                  <a:pt x="586153" y="0"/>
                </a:lnTo>
                <a:lnTo>
                  <a:pt x="586153" y="629656"/>
                </a:lnTo>
                <a:lnTo>
                  <a:pt x="0" y="62965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5" name="Freeform 35"/>
          <p:cNvSpPr/>
          <p:nvPr/>
        </p:nvSpPr>
        <p:spPr>
          <a:xfrm>
            <a:off x="1946939" y="4094263"/>
            <a:ext cx="619353" cy="629656"/>
          </a:xfrm>
          <a:custGeom>
            <a:avLst/>
            <a:gdLst/>
            <a:ahLst/>
            <a:cxnLst/>
            <a:rect l="l" t="t" r="r" b="b"/>
            <a:pathLst>
              <a:path w="619353" h="629656">
                <a:moveTo>
                  <a:pt x="0" y="0"/>
                </a:moveTo>
                <a:lnTo>
                  <a:pt x="619353" y="0"/>
                </a:lnTo>
                <a:lnTo>
                  <a:pt x="619353" y="629656"/>
                </a:lnTo>
                <a:lnTo>
                  <a:pt x="0" y="62965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6" name="TextBox 36"/>
          <p:cNvSpPr txBox="1"/>
          <p:nvPr/>
        </p:nvSpPr>
        <p:spPr>
          <a:xfrm>
            <a:off x="1421452" y="595312"/>
            <a:ext cx="6529733"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论文总结与致谢</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37" name="TextBox 37"/>
          <p:cNvSpPr txBox="1"/>
          <p:nvPr/>
        </p:nvSpPr>
        <p:spPr>
          <a:xfrm>
            <a:off x="3879264" y="4077074"/>
            <a:ext cx="4370287" cy="1097915"/>
          </a:xfrm>
          <a:prstGeom prst="rect">
            <a:avLst/>
          </a:prstGeom>
        </p:spPr>
        <p:txBody>
          <a:bodyPr lIns="0" tIns="0" rIns="0" bIns="0" rtlCol="0" anchor="t">
            <a:spAutoFit/>
          </a:bodyPr>
          <a:lstStyle/>
          <a:p>
            <a:pPr marL="0" lvl="0" indent="0" algn="just">
              <a:lnSpc>
                <a:spcPts val="2855"/>
              </a:lnSpc>
              <a:spcBef>
                <a:spcPct val="0"/>
              </a:spcBef>
            </a:pPr>
            <a:r>
              <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提出了复合混动模式的控制策略</a:t>
            </a:r>
            <a:endPar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2855"/>
              </a:lnSpc>
              <a:spcBef>
                <a:spcPct val="0"/>
              </a:spcBef>
            </a:pPr>
            <a:r>
              <a:rPr lang="zh-CN" alt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设计纯电、混联以及能量回收策略</a:t>
            </a:r>
            <a:endParaRPr lang="zh-CN" alt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2855"/>
              </a:lnSpc>
              <a:spcBef>
                <a:spcPct val="0"/>
              </a:spcBef>
            </a:pPr>
            <a:r>
              <a:rPr lang="zh-CN" alt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设计合适的前后轴扭矩分配比</a:t>
            </a:r>
            <a:endParaRPr lang="zh-CN" alt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38" name="TextBox 38"/>
          <p:cNvSpPr txBox="1"/>
          <p:nvPr/>
        </p:nvSpPr>
        <p:spPr>
          <a:xfrm>
            <a:off x="3879264" y="3511240"/>
            <a:ext cx="4071921" cy="510158"/>
          </a:xfrm>
          <a:prstGeom prst="rect">
            <a:avLst/>
          </a:prstGeom>
        </p:spPr>
        <p:txBody>
          <a:bodyPr lIns="0" tIns="0" rIns="0" bIns="0" rtlCol="0" anchor="t">
            <a:spAutoFit/>
          </a:bodyPr>
          <a:lstStyle/>
          <a:p>
            <a:pPr marL="0" lvl="0" indent="0" algn="l">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整体布置 动力分配策略</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39" name="TextBox 39"/>
          <p:cNvSpPr txBox="1"/>
          <p:nvPr/>
        </p:nvSpPr>
        <p:spPr>
          <a:xfrm>
            <a:off x="11639529" y="4008538"/>
            <a:ext cx="4370287" cy="1830070"/>
          </a:xfrm>
          <a:prstGeom prst="rect">
            <a:avLst/>
          </a:prstGeom>
        </p:spPr>
        <p:txBody>
          <a:bodyPr lIns="0" tIns="0" rIns="0" bIns="0" rtlCol="0" anchor="t">
            <a:spAutoFit/>
          </a:bodyPr>
          <a:lstStyle/>
          <a:p>
            <a:pPr marL="0" lvl="0" indent="0" algn="just">
              <a:lnSpc>
                <a:spcPts val="2855"/>
              </a:lnSpc>
              <a:spcBef>
                <a:spcPct val="0"/>
              </a:spcBef>
            </a:pPr>
            <a:r>
              <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采</a:t>
            </a:r>
            <a:r>
              <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用了行星齿轮组结构</a:t>
            </a:r>
            <a:endPar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2855"/>
              </a:lnSpc>
              <a:spcBef>
                <a:spcPct val="0"/>
              </a:spcBef>
            </a:pPr>
            <a:r>
              <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满足了动力源的灵活耦合需求</a:t>
            </a:r>
            <a:endPar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2855"/>
              </a:lnSpc>
              <a:spcBef>
                <a:spcPct val="0"/>
              </a:spcBef>
            </a:pPr>
            <a:r>
              <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散热方案和高强度材料（如DLC涂层和合金钢）的应用</a:t>
            </a:r>
            <a:endPar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2855"/>
              </a:lnSpc>
              <a:spcBef>
                <a:spcPct val="0"/>
              </a:spcBef>
            </a:pPr>
            <a:endParaRPr sz="2000"/>
          </a:p>
        </p:txBody>
      </p:sp>
      <p:sp>
        <p:nvSpPr>
          <p:cNvPr id="40" name="TextBox 40"/>
          <p:cNvSpPr txBox="1"/>
          <p:nvPr/>
        </p:nvSpPr>
        <p:spPr>
          <a:xfrm>
            <a:off x="11639529" y="3395466"/>
            <a:ext cx="2889059" cy="510158"/>
          </a:xfrm>
          <a:prstGeom prst="rect">
            <a:avLst/>
          </a:prstGeom>
        </p:spPr>
        <p:txBody>
          <a:bodyPr lIns="0" tIns="0" rIns="0" bIns="0" rtlCol="0" anchor="t">
            <a:spAutoFit/>
          </a:bodyPr>
          <a:lstStyle/>
          <a:p>
            <a:pPr marL="0" lvl="0" indent="0" algn="l">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动力耦合器</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41" name="TextBox 41"/>
          <p:cNvSpPr txBox="1"/>
          <p:nvPr/>
        </p:nvSpPr>
        <p:spPr>
          <a:xfrm>
            <a:off x="3700780" y="7028180"/>
            <a:ext cx="4979670" cy="1097915"/>
          </a:xfrm>
          <a:prstGeom prst="rect">
            <a:avLst/>
          </a:prstGeom>
        </p:spPr>
        <p:txBody>
          <a:bodyPr wrap="square" lIns="0" tIns="0" rIns="0" bIns="0" rtlCol="0" anchor="t">
            <a:spAutoFit/>
          </a:bodyPr>
          <a:lstStyle/>
          <a:p>
            <a:pPr marL="0" lvl="0" indent="0" algn="just">
              <a:lnSpc>
                <a:spcPts val="2855"/>
              </a:lnSpc>
              <a:spcBef>
                <a:spcPct val="0"/>
              </a:spcBef>
            </a:pPr>
            <a:r>
              <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计算齿轮传动比和扭矩</a:t>
            </a:r>
            <a:r>
              <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分配</a:t>
            </a:r>
            <a:endPar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2855"/>
              </a:lnSpc>
              <a:spcBef>
                <a:spcPct val="0"/>
              </a:spcBef>
            </a:pPr>
            <a:r>
              <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合金钢材料进行强度校核</a:t>
            </a:r>
            <a:endPar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2855"/>
              </a:lnSpc>
              <a:spcBef>
                <a:spcPct val="0"/>
              </a:spcBef>
            </a:pPr>
            <a:r>
              <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散热系统和润滑设计延长了部件的使用寿命</a:t>
            </a:r>
            <a:endPar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42" name="TextBox 42"/>
          <p:cNvSpPr txBox="1"/>
          <p:nvPr/>
        </p:nvSpPr>
        <p:spPr>
          <a:xfrm>
            <a:off x="3879264" y="6392603"/>
            <a:ext cx="2889059" cy="510158"/>
          </a:xfrm>
          <a:prstGeom prst="rect">
            <a:avLst/>
          </a:prstGeom>
        </p:spPr>
        <p:txBody>
          <a:bodyPr lIns="0" tIns="0" rIns="0" bIns="0" rtlCol="0" anchor="t">
            <a:spAutoFit/>
          </a:bodyPr>
          <a:lstStyle/>
          <a:p>
            <a:pPr marL="0" lvl="0" indent="0" algn="l">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四驱分动器</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
        <p:nvSpPr>
          <p:cNvPr id="43" name="TextBox 43"/>
          <p:cNvSpPr txBox="1"/>
          <p:nvPr/>
        </p:nvSpPr>
        <p:spPr>
          <a:xfrm>
            <a:off x="11245850" y="7028180"/>
            <a:ext cx="5284470" cy="1097915"/>
          </a:xfrm>
          <a:prstGeom prst="rect">
            <a:avLst/>
          </a:prstGeom>
        </p:spPr>
        <p:txBody>
          <a:bodyPr wrap="square" lIns="0" tIns="0" rIns="0" bIns="0" rtlCol="0" anchor="t">
            <a:spAutoFit/>
          </a:bodyPr>
          <a:lstStyle/>
          <a:p>
            <a:pPr marL="0" lvl="0" indent="0" algn="just">
              <a:lnSpc>
                <a:spcPts val="2855"/>
              </a:lnSpc>
              <a:spcBef>
                <a:spcPct val="0"/>
              </a:spcBef>
            </a:pPr>
            <a:r>
              <a:rPr lang="en-US" sz="2000">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解决了扭矩传递、角度补偿和轴承强度</a:t>
            </a:r>
            <a:r>
              <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等问题</a:t>
            </a:r>
            <a:endPar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2855"/>
              </a:lnSpc>
              <a:spcBef>
                <a:spcPct val="0"/>
              </a:spcBef>
            </a:pPr>
            <a:r>
              <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滑动花键可以实现传动长度的变化</a:t>
            </a:r>
            <a:endPar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marL="0" lvl="0" indent="0" algn="just">
              <a:lnSpc>
                <a:spcPts val="2855"/>
              </a:lnSpc>
              <a:spcBef>
                <a:spcPct val="0"/>
              </a:spcBef>
            </a:pPr>
            <a:r>
              <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润滑脂润滑橡胶密封圈</a:t>
            </a:r>
            <a:endParaRPr lang="en-US" sz="2000" u="none" strike="noStrike">
              <a:solidFill>
                <a:srgbClr val="1E1E1E"/>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44" name="TextBox 44"/>
          <p:cNvSpPr txBox="1"/>
          <p:nvPr/>
        </p:nvSpPr>
        <p:spPr>
          <a:xfrm>
            <a:off x="11639529" y="6392603"/>
            <a:ext cx="2889059" cy="510158"/>
          </a:xfrm>
          <a:prstGeom prst="rect">
            <a:avLst/>
          </a:prstGeom>
        </p:spPr>
        <p:txBody>
          <a:bodyPr lIns="0" tIns="0" rIns="0" bIns="0" rtlCol="0" anchor="t">
            <a:spAutoFit/>
          </a:bodyPr>
          <a:lstStyle/>
          <a:p>
            <a:pPr marL="0" lvl="0" indent="0" algn="l">
              <a:lnSpc>
                <a:spcPts val="4370"/>
              </a:lnSpc>
              <a:spcBef>
                <a:spcPct val="0"/>
              </a:spcBef>
            </a:pPr>
            <a:r>
              <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传动装置</a:t>
            </a:r>
            <a:endParaRPr lang="en-US" sz="2800" b="1">
              <a:solidFill>
                <a:srgbClr val="1E1E1E"/>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100000">
            <a:off x="-927534" y="122003"/>
            <a:ext cx="1640150" cy="1640150"/>
            <a:chOff x="0" y="0"/>
            <a:chExt cx="775859" cy="775859"/>
          </a:xfrm>
        </p:grpSpPr>
        <p:sp>
          <p:nvSpPr>
            <p:cNvPr id="3" name="Freeform 3"/>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1F367F">
                <a:alpha val="89804"/>
              </a:srgbClr>
            </a:solidFill>
          </p:spPr>
        </p:sp>
        <p:sp>
          <p:nvSpPr>
            <p:cNvPr id="4" name="TextBox 4"/>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8100000">
            <a:off x="-290992" y="-656066"/>
            <a:ext cx="1323946" cy="1323946"/>
            <a:chOff x="0" y="0"/>
            <a:chExt cx="626281" cy="626281"/>
          </a:xfrm>
        </p:grpSpPr>
        <p:sp>
          <p:nvSpPr>
            <p:cNvPr id="6" name="Freeform 6"/>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1F367F">
                <a:alpha val="89804"/>
              </a:srgbClr>
            </a:solidFill>
          </p:spPr>
        </p:sp>
        <p:sp>
          <p:nvSpPr>
            <p:cNvPr id="7" name="TextBox 7"/>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8" name="Group 8"/>
          <p:cNvGrpSpPr/>
          <p:nvPr/>
        </p:nvGrpSpPr>
        <p:grpSpPr>
          <a:xfrm rot="0">
            <a:off x="13220725" y="-20497"/>
            <a:ext cx="5067275" cy="10327995"/>
            <a:chOff x="0" y="0"/>
            <a:chExt cx="3811371" cy="7768242"/>
          </a:xfrm>
        </p:grpSpPr>
        <p:sp>
          <p:nvSpPr>
            <p:cNvPr id="9" name="Freeform 9"/>
            <p:cNvSpPr/>
            <p:nvPr/>
          </p:nvSpPr>
          <p:spPr>
            <a:xfrm>
              <a:off x="0" y="0"/>
              <a:ext cx="3811370" cy="7768242"/>
            </a:xfrm>
            <a:custGeom>
              <a:avLst/>
              <a:gdLst/>
              <a:ahLst/>
              <a:cxnLst/>
              <a:rect l="l" t="t" r="r" b="b"/>
              <a:pathLst>
                <a:path w="3811370" h="7768242">
                  <a:moveTo>
                    <a:pt x="0" y="0"/>
                  </a:moveTo>
                  <a:lnTo>
                    <a:pt x="3811370" y="0"/>
                  </a:lnTo>
                  <a:lnTo>
                    <a:pt x="3811370" y="7768242"/>
                  </a:lnTo>
                  <a:lnTo>
                    <a:pt x="0" y="7768242"/>
                  </a:lnTo>
                  <a:close/>
                </a:path>
              </a:pathLst>
            </a:custGeom>
            <a:solidFill>
              <a:srgbClr val="1F367F"/>
            </a:solidFill>
          </p:spPr>
        </p:sp>
        <p:sp>
          <p:nvSpPr>
            <p:cNvPr id="10" name="TextBox 10"/>
            <p:cNvSpPr txBox="1"/>
            <p:nvPr/>
          </p:nvSpPr>
          <p:spPr>
            <a:xfrm>
              <a:off x="0" y="-57150"/>
              <a:ext cx="3811371" cy="7825392"/>
            </a:xfrm>
            <a:prstGeom prst="rect">
              <a:avLst/>
            </a:prstGeom>
          </p:spPr>
          <p:txBody>
            <a:bodyPr lIns="53210" tIns="53210" rIns="53210" bIns="53210" rtlCol="0" anchor="ctr"/>
            <a:lstStyle/>
            <a:p>
              <a:pPr algn="ctr">
                <a:lnSpc>
                  <a:spcPts val="3105"/>
                </a:lnSpc>
              </a:pPr>
            </a:p>
          </p:txBody>
        </p:sp>
      </p:grpSp>
      <p:grpSp>
        <p:nvGrpSpPr>
          <p:cNvPr id="11" name="Group 11"/>
          <p:cNvGrpSpPr/>
          <p:nvPr/>
        </p:nvGrpSpPr>
        <p:grpSpPr>
          <a:xfrm rot="0">
            <a:off x="1774211" y="3076544"/>
            <a:ext cx="2219681" cy="613660"/>
            <a:chOff x="0" y="0"/>
            <a:chExt cx="584607" cy="161622"/>
          </a:xfrm>
        </p:grpSpPr>
        <p:sp>
          <p:nvSpPr>
            <p:cNvPr id="12" name="Freeform 12"/>
            <p:cNvSpPr/>
            <p:nvPr/>
          </p:nvSpPr>
          <p:spPr>
            <a:xfrm>
              <a:off x="0" y="0"/>
              <a:ext cx="584607" cy="161622"/>
            </a:xfrm>
            <a:custGeom>
              <a:avLst/>
              <a:gdLst/>
              <a:ahLst/>
              <a:cxnLst/>
              <a:rect l="l" t="t" r="r" b="b"/>
              <a:pathLst>
                <a:path w="584607" h="161622">
                  <a:moveTo>
                    <a:pt x="0" y="0"/>
                  </a:moveTo>
                  <a:lnTo>
                    <a:pt x="584607" y="0"/>
                  </a:lnTo>
                  <a:lnTo>
                    <a:pt x="584607" y="161622"/>
                  </a:lnTo>
                  <a:lnTo>
                    <a:pt x="0" y="161622"/>
                  </a:lnTo>
                  <a:close/>
                </a:path>
              </a:pathLst>
            </a:custGeom>
            <a:solidFill>
              <a:srgbClr val="1F367F"/>
            </a:solidFill>
            <a:ln cap="sq">
              <a:noFill/>
              <a:prstDash val="sysDot"/>
              <a:miter/>
            </a:ln>
          </p:spPr>
        </p:sp>
        <p:sp>
          <p:nvSpPr>
            <p:cNvPr id="13" name="TextBox 13"/>
            <p:cNvSpPr txBox="1"/>
            <p:nvPr/>
          </p:nvSpPr>
          <p:spPr>
            <a:xfrm>
              <a:off x="0" y="-28575"/>
              <a:ext cx="584607" cy="190197"/>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14" name="Group 14"/>
          <p:cNvGrpSpPr/>
          <p:nvPr/>
        </p:nvGrpSpPr>
        <p:grpSpPr>
          <a:xfrm rot="0">
            <a:off x="9956550" y="2356162"/>
            <a:ext cx="6528350" cy="652835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
              <a:stretch>
                <a:fillRect l="-38823" r="-38823"/>
              </a:stretch>
            </a:blipFill>
          </p:spPr>
        </p:sp>
      </p:grpSp>
      <p:sp>
        <p:nvSpPr>
          <p:cNvPr id="16" name="TextBox 16"/>
          <p:cNvSpPr txBox="1"/>
          <p:nvPr/>
        </p:nvSpPr>
        <p:spPr>
          <a:xfrm>
            <a:off x="1421452" y="595312"/>
            <a:ext cx="6529733" cy="790575"/>
          </a:xfrm>
          <a:prstGeom prst="rect">
            <a:avLst/>
          </a:prstGeom>
        </p:spPr>
        <p:txBody>
          <a:bodyPr lIns="0" tIns="0" rIns="0" bIns="0" rtlCol="0" anchor="t">
            <a:spAutoFit/>
          </a:bodyPr>
          <a:lstStyle/>
          <a:p>
            <a:pPr algn="l">
              <a:lnSpc>
                <a:spcPts val="6240"/>
              </a:lnSpc>
            </a:pPr>
            <a:r>
              <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rPr>
              <a:t>论文总结与致谢</a:t>
            </a:r>
            <a:endParaRPr lang="en-US" sz="5200" b="1">
              <a:solidFill>
                <a:srgbClr val="100F0D"/>
              </a:solidFill>
              <a:latin typeface="思源黑体 2 Heavy" panose="020B0A00000000000000" charset="-122"/>
              <a:ea typeface="思源黑体 2 Heavy" panose="020B0A00000000000000" charset="-122"/>
              <a:cs typeface="思源黑体 2 Heavy" panose="020B0A00000000000000" charset="-122"/>
              <a:sym typeface="思源黑体 2 Heavy" panose="020B0A00000000000000" charset="-122"/>
            </a:endParaRPr>
          </a:p>
        </p:txBody>
      </p:sp>
      <p:sp>
        <p:nvSpPr>
          <p:cNvPr id="17" name="TextBox 17"/>
          <p:cNvSpPr txBox="1"/>
          <p:nvPr/>
        </p:nvSpPr>
        <p:spPr>
          <a:xfrm>
            <a:off x="1774211" y="4304911"/>
            <a:ext cx="6925488" cy="3850768"/>
          </a:xfrm>
          <a:prstGeom prst="rect">
            <a:avLst/>
          </a:prstGeom>
        </p:spPr>
        <p:txBody>
          <a:bodyPr lIns="0" tIns="0" rIns="0" bIns="0" rtlCol="0" anchor="t">
            <a:spAutoFit/>
          </a:bodyPr>
          <a:lstStyle/>
          <a:p>
            <a:pPr algn="just">
              <a:lnSpc>
                <a:spcPts val="3865"/>
              </a:lnSpc>
            </a:pPr>
            <a:r>
              <a:rPr lang="en-US" sz="23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需进一步简化系统结构，提升系统的集成度与可靠性</a:t>
            </a:r>
            <a:endParaRPr lang="en-US" sz="23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865"/>
              </a:lnSpc>
            </a:pPr>
          </a:p>
          <a:p>
            <a:pPr algn="just">
              <a:lnSpc>
                <a:spcPts val="3865"/>
              </a:lnSpc>
            </a:pPr>
            <a:r>
              <a:rPr lang="en-US" sz="23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能量管理策略仍然较为基础，未来可结合人工智能等技术，实现更为智能的功率分配与能量回收策略</a:t>
            </a:r>
            <a:endParaRPr lang="en-US" sz="23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865"/>
              </a:lnSpc>
            </a:pPr>
          </a:p>
          <a:p>
            <a:pPr algn="just">
              <a:lnSpc>
                <a:spcPts val="3865"/>
              </a:lnSpc>
            </a:pPr>
            <a:r>
              <a:rPr lang="en-US" sz="23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混合动力系统的成本依然较高，需在确保性能与安全的基础上降低制造成本，促进该技术的广泛应用</a:t>
            </a:r>
            <a:endParaRPr lang="en-US" sz="2300">
              <a:solidFill>
                <a:srgbClr val="100F0D"/>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just">
              <a:lnSpc>
                <a:spcPts val="3865"/>
              </a:lnSpc>
            </a:pPr>
          </a:p>
        </p:txBody>
      </p:sp>
      <p:sp>
        <p:nvSpPr>
          <p:cNvPr id="18" name="TextBox 18"/>
          <p:cNvSpPr txBox="1"/>
          <p:nvPr/>
        </p:nvSpPr>
        <p:spPr>
          <a:xfrm>
            <a:off x="1900889" y="3068466"/>
            <a:ext cx="1966323" cy="510158"/>
          </a:xfrm>
          <a:prstGeom prst="rect">
            <a:avLst/>
          </a:prstGeom>
        </p:spPr>
        <p:txBody>
          <a:bodyPr lIns="0" tIns="0" rIns="0" bIns="0" rtlCol="0" anchor="t">
            <a:spAutoFit/>
          </a:bodyPr>
          <a:lstStyle/>
          <a:p>
            <a:pPr algn="ctr">
              <a:lnSpc>
                <a:spcPts val="4370"/>
              </a:lnSpc>
            </a:pPr>
            <a:r>
              <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rPr>
              <a:t>不足之处</a:t>
            </a:r>
            <a:endParaRPr lang="en-US" sz="2800" b="1">
              <a:solidFill>
                <a:srgbClr val="FFFFFF"/>
              </a:solidFill>
              <a:latin typeface="思源黑体 2 Bold" panose="020B0800000000000000" charset="-122"/>
              <a:ea typeface="思源黑体 2 Bold" panose="020B0800000000000000" charset="-122"/>
              <a:cs typeface="思源黑体 2 Bold" panose="020B0800000000000000" charset="-122"/>
              <a:sym typeface="思源黑体 2 Bold" panose="020B0800000000000000"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F367F"/>
        </a:solidFill>
        <a:effectLst/>
      </p:bgPr>
    </p:bg>
    <p:spTree>
      <p:nvGrpSpPr>
        <p:cNvPr id="1" name=""/>
        <p:cNvGrpSpPr/>
        <p:nvPr/>
      </p:nvGrpSpPr>
      <p:grpSpPr>
        <a:xfrm>
          <a:off x="0" y="0"/>
          <a:ext cx="0" cy="0"/>
          <a:chOff x="0" y="0"/>
          <a:chExt cx="0" cy="0"/>
        </a:xfrm>
      </p:grpSpPr>
      <p:sp>
        <p:nvSpPr>
          <p:cNvPr id="2" name="TextBox 2"/>
          <p:cNvSpPr txBox="1"/>
          <p:nvPr/>
        </p:nvSpPr>
        <p:spPr>
          <a:xfrm>
            <a:off x="5895703" y="2163086"/>
            <a:ext cx="6496594" cy="1159929"/>
          </a:xfrm>
          <a:prstGeom prst="rect">
            <a:avLst/>
          </a:prstGeom>
        </p:spPr>
        <p:txBody>
          <a:bodyPr lIns="0" tIns="0" rIns="0" bIns="0" rtlCol="0" anchor="t">
            <a:spAutoFit/>
          </a:bodyPr>
          <a:lstStyle/>
          <a:p>
            <a:pPr algn="ctr">
              <a:lnSpc>
                <a:spcPts val="9820"/>
              </a:lnSpc>
            </a:pPr>
            <a:r>
              <a:rPr lang="en-US" sz="6295" b="1" spc="1095">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rPr>
              <a:t>致谢</a:t>
            </a:r>
            <a:endParaRPr lang="en-US" sz="6295" b="1" spc="1095">
              <a:solidFill>
                <a:srgbClr val="FFFFFF"/>
              </a:solidFill>
              <a:latin typeface="思源黑体 3 Bold" panose="020B0800000000000000" charset="-122"/>
              <a:ea typeface="思源黑体 3 Bold" panose="020B0800000000000000" charset="-122"/>
              <a:cs typeface="思源黑体 3 Bold" panose="020B0800000000000000" charset="-122"/>
              <a:sym typeface="思源黑体 3 Bold" panose="020B0800000000000000" charset="-122"/>
            </a:endParaRPr>
          </a:p>
        </p:txBody>
      </p:sp>
      <p:sp>
        <p:nvSpPr>
          <p:cNvPr id="3" name="TextBox 3"/>
          <p:cNvSpPr txBox="1"/>
          <p:nvPr/>
        </p:nvSpPr>
        <p:spPr>
          <a:xfrm>
            <a:off x="2480915" y="4027865"/>
            <a:ext cx="13135047" cy="2037209"/>
          </a:xfrm>
          <a:prstGeom prst="rect">
            <a:avLst/>
          </a:prstGeom>
        </p:spPr>
        <p:txBody>
          <a:bodyPr lIns="0" tIns="0" rIns="0" bIns="0" rtlCol="0" anchor="t">
            <a:spAutoFit/>
          </a:bodyPr>
          <a:lstStyle/>
          <a:p>
            <a:pPr algn="ctr">
              <a:lnSpc>
                <a:spcPts val="5545"/>
              </a:lnSpc>
            </a:pPr>
            <a:r>
              <a:rPr lang="en-US" sz="33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感谢杨洪亮教授在我整个毕业设计的过程中给予了我及时且有效的帮助</a:t>
            </a:r>
            <a:endParaRPr lang="en-US" sz="33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5545"/>
              </a:lnSpc>
            </a:pPr>
            <a:r>
              <a:rPr lang="en-US" sz="33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感谢各位答辩老师在开题、中期及验收阶段提出的宝贵意见</a:t>
            </a:r>
            <a:endParaRPr lang="en-US" sz="3300">
              <a:solidFill>
                <a:srgbClr val="FFFFFF"/>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gn="ctr">
              <a:lnSpc>
                <a:spcPts val="5545"/>
              </a:lnSpc>
            </a:pPr>
          </a:p>
        </p:txBody>
      </p:sp>
      <p:grpSp>
        <p:nvGrpSpPr>
          <p:cNvPr id="4" name="Group 4"/>
          <p:cNvGrpSpPr/>
          <p:nvPr/>
        </p:nvGrpSpPr>
        <p:grpSpPr>
          <a:xfrm rot="8100000">
            <a:off x="-1314255" y="344076"/>
            <a:ext cx="2687808" cy="2687808"/>
            <a:chOff x="0" y="0"/>
            <a:chExt cx="775859" cy="775859"/>
          </a:xfrm>
        </p:grpSpPr>
        <p:sp>
          <p:nvSpPr>
            <p:cNvPr id="5" name="Freeform 5"/>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4660AF">
                <a:alpha val="89804"/>
              </a:srgbClr>
            </a:solidFill>
          </p:spPr>
        </p:sp>
        <p:sp>
          <p:nvSpPr>
            <p:cNvPr id="6" name="TextBox 6"/>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7" name="Group 7"/>
          <p:cNvGrpSpPr/>
          <p:nvPr/>
        </p:nvGrpSpPr>
        <p:grpSpPr>
          <a:xfrm rot="8100000">
            <a:off x="-138055" y="-1103863"/>
            <a:ext cx="2169626" cy="2169626"/>
            <a:chOff x="0" y="0"/>
            <a:chExt cx="626281" cy="626281"/>
          </a:xfrm>
        </p:grpSpPr>
        <p:sp>
          <p:nvSpPr>
            <p:cNvPr id="8" name="Freeform 8"/>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4660AF">
                <a:alpha val="60000"/>
              </a:srgbClr>
            </a:solidFill>
          </p:spPr>
        </p:sp>
        <p:sp>
          <p:nvSpPr>
            <p:cNvPr id="9" name="TextBox 9"/>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grpSp>
        <p:nvGrpSpPr>
          <p:cNvPr id="10" name="Group 10"/>
          <p:cNvGrpSpPr/>
          <p:nvPr/>
        </p:nvGrpSpPr>
        <p:grpSpPr>
          <a:xfrm rot="-2700000">
            <a:off x="16914447" y="7255116"/>
            <a:ext cx="2687808" cy="2687808"/>
            <a:chOff x="0" y="0"/>
            <a:chExt cx="775859" cy="775859"/>
          </a:xfrm>
        </p:grpSpPr>
        <p:sp>
          <p:nvSpPr>
            <p:cNvPr id="11" name="Freeform 11"/>
            <p:cNvSpPr/>
            <p:nvPr/>
          </p:nvSpPr>
          <p:spPr>
            <a:xfrm>
              <a:off x="0" y="0"/>
              <a:ext cx="775859" cy="775859"/>
            </a:xfrm>
            <a:custGeom>
              <a:avLst/>
              <a:gdLst/>
              <a:ahLst/>
              <a:cxnLst/>
              <a:rect l="l" t="t" r="r" b="b"/>
              <a:pathLst>
                <a:path w="775859" h="775859">
                  <a:moveTo>
                    <a:pt x="0" y="0"/>
                  </a:moveTo>
                  <a:lnTo>
                    <a:pt x="775859" y="0"/>
                  </a:lnTo>
                  <a:lnTo>
                    <a:pt x="775859" y="775859"/>
                  </a:lnTo>
                  <a:lnTo>
                    <a:pt x="0" y="775859"/>
                  </a:lnTo>
                  <a:close/>
                </a:path>
              </a:pathLst>
            </a:custGeom>
            <a:solidFill>
              <a:srgbClr val="4660AF">
                <a:alpha val="89804"/>
              </a:srgbClr>
            </a:solidFill>
          </p:spPr>
        </p:sp>
        <p:sp>
          <p:nvSpPr>
            <p:cNvPr id="12" name="TextBox 12"/>
            <p:cNvSpPr txBox="1"/>
            <p:nvPr/>
          </p:nvSpPr>
          <p:spPr>
            <a:xfrm>
              <a:off x="0" y="-47625"/>
              <a:ext cx="775859" cy="823484"/>
            </a:xfrm>
            <a:prstGeom prst="rect">
              <a:avLst/>
            </a:prstGeom>
          </p:spPr>
          <p:txBody>
            <a:bodyPr lIns="50800" tIns="50800" rIns="50800" bIns="50800" rtlCol="0" anchor="ctr"/>
            <a:lstStyle/>
            <a:p>
              <a:pPr algn="ctr">
                <a:lnSpc>
                  <a:spcPts val="3625"/>
                </a:lnSpc>
              </a:pPr>
            </a:p>
          </p:txBody>
        </p:sp>
      </p:grpSp>
      <p:grpSp>
        <p:nvGrpSpPr>
          <p:cNvPr id="13" name="Group 13"/>
          <p:cNvGrpSpPr/>
          <p:nvPr/>
        </p:nvGrpSpPr>
        <p:grpSpPr>
          <a:xfrm rot="-2700000">
            <a:off x="16256429" y="9191239"/>
            <a:ext cx="2169626" cy="2169626"/>
            <a:chOff x="0" y="0"/>
            <a:chExt cx="626281" cy="626281"/>
          </a:xfrm>
        </p:grpSpPr>
        <p:sp>
          <p:nvSpPr>
            <p:cNvPr id="14" name="Freeform 14"/>
            <p:cNvSpPr/>
            <p:nvPr/>
          </p:nvSpPr>
          <p:spPr>
            <a:xfrm>
              <a:off x="0" y="0"/>
              <a:ext cx="626281" cy="626281"/>
            </a:xfrm>
            <a:custGeom>
              <a:avLst/>
              <a:gdLst/>
              <a:ahLst/>
              <a:cxnLst/>
              <a:rect l="l" t="t" r="r" b="b"/>
              <a:pathLst>
                <a:path w="626281" h="626281">
                  <a:moveTo>
                    <a:pt x="0" y="0"/>
                  </a:moveTo>
                  <a:lnTo>
                    <a:pt x="626281" y="0"/>
                  </a:lnTo>
                  <a:lnTo>
                    <a:pt x="626281" y="626281"/>
                  </a:lnTo>
                  <a:lnTo>
                    <a:pt x="0" y="626281"/>
                  </a:lnTo>
                  <a:close/>
                </a:path>
              </a:pathLst>
            </a:custGeom>
            <a:solidFill>
              <a:srgbClr val="4660AF">
                <a:alpha val="60000"/>
              </a:srgbClr>
            </a:solidFill>
          </p:spPr>
        </p:sp>
        <p:sp>
          <p:nvSpPr>
            <p:cNvPr id="15" name="TextBox 15"/>
            <p:cNvSpPr txBox="1"/>
            <p:nvPr/>
          </p:nvSpPr>
          <p:spPr>
            <a:xfrm>
              <a:off x="0" y="-47625"/>
              <a:ext cx="626281" cy="673906"/>
            </a:xfrm>
            <a:prstGeom prst="rect">
              <a:avLst/>
            </a:prstGeom>
          </p:spPr>
          <p:txBody>
            <a:bodyPr lIns="50800" tIns="50800" rIns="50800" bIns="50800" rtlCol="0" anchor="ctr"/>
            <a:lstStyle/>
            <a:p>
              <a:pPr algn="ctr">
                <a:lnSpc>
                  <a:spcPts val="3625"/>
                </a:lnSpc>
              </a:p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850705" y="6041800"/>
            <a:ext cx="3135025" cy="538295"/>
            <a:chOff x="0" y="0"/>
            <a:chExt cx="825686" cy="141773"/>
          </a:xfrm>
        </p:grpSpPr>
        <p:sp>
          <p:nvSpPr>
            <p:cNvPr id="3" name="Freeform 3"/>
            <p:cNvSpPr/>
            <p:nvPr/>
          </p:nvSpPr>
          <p:spPr>
            <a:xfrm>
              <a:off x="0" y="0"/>
              <a:ext cx="825686" cy="141773"/>
            </a:xfrm>
            <a:custGeom>
              <a:avLst/>
              <a:gdLst/>
              <a:ahLst/>
              <a:cxnLst/>
              <a:rect l="l" t="t" r="r" b="b"/>
              <a:pathLst>
                <a:path w="825686" h="141773">
                  <a:moveTo>
                    <a:pt x="0" y="0"/>
                  </a:moveTo>
                  <a:lnTo>
                    <a:pt x="825686" y="0"/>
                  </a:lnTo>
                  <a:lnTo>
                    <a:pt x="825686" y="141773"/>
                  </a:lnTo>
                  <a:lnTo>
                    <a:pt x="0" y="141773"/>
                  </a:lnTo>
                  <a:close/>
                </a:path>
              </a:pathLst>
            </a:custGeom>
            <a:solidFill>
              <a:srgbClr val="1F367F"/>
            </a:solidFill>
          </p:spPr>
        </p:sp>
        <p:sp>
          <p:nvSpPr>
            <p:cNvPr id="4" name="TextBox 4"/>
            <p:cNvSpPr txBox="1"/>
            <p:nvPr/>
          </p:nvSpPr>
          <p:spPr>
            <a:xfrm>
              <a:off x="0" y="-47625"/>
              <a:ext cx="825686" cy="189398"/>
            </a:xfrm>
            <a:prstGeom prst="rect">
              <a:avLst/>
            </a:prstGeom>
          </p:spPr>
          <p:txBody>
            <a:bodyPr lIns="50800" tIns="50800" rIns="50800" bIns="50800" rtlCol="0" anchor="ctr"/>
            <a:lstStyle/>
            <a:p>
              <a:pPr algn="ctr">
                <a:lnSpc>
                  <a:spcPts val="3625"/>
                </a:lnSpc>
              </a:pPr>
            </a:p>
          </p:txBody>
        </p:sp>
      </p:grpSp>
      <p:grpSp>
        <p:nvGrpSpPr>
          <p:cNvPr id="5" name="Group 5"/>
          <p:cNvGrpSpPr/>
          <p:nvPr/>
        </p:nvGrpSpPr>
        <p:grpSpPr>
          <a:xfrm rot="0">
            <a:off x="9302270" y="6032275"/>
            <a:ext cx="3135025" cy="538295"/>
            <a:chOff x="0" y="0"/>
            <a:chExt cx="825686" cy="141773"/>
          </a:xfrm>
        </p:grpSpPr>
        <p:sp>
          <p:nvSpPr>
            <p:cNvPr id="6" name="Freeform 6"/>
            <p:cNvSpPr/>
            <p:nvPr/>
          </p:nvSpPr>
          <p:spPr>
            <a:xfrm>
              <a:off x="0" y="0"/>
              <a:ext cx="825686" cy="141773"/>
            </a:xfrm>
            <a:custGeom>
              <a:avLst/>
              <a:gdLst/>
              <a:ahLst/>
              <a:cxnLst/>
              <a:rect l="l" t="t" r="r" b="b"/>
              <a:pathLst>
                <a:path w="825686" h="141773">
                  <a:moveTo>
                    <a:pt x="0" y="0"/>
                  </a:moveTo>
                  <a:lnTo>
                    <a:pt x="825686" y="0"/>
                  </a:lnTo>
                  <a:lnTo>
                    <a:pt x="825686" y="141773"/>
                  </a:lnTo>
                  <a:lnTo>
                    <a:pt x="0" y="141773"/>
                  </a:lnTo>
                  <a:close/>
                </a:path>
              </a:pathLst>
            </a:custGeom>
            <a:solidFill>
              <a:srgbClr val="1F367F"/>
            </a:solidFill>
          </p:spPr>
        </p:sp>
        <p:sp>
          <p:nvSpPr>
            <p:cNvPr id="7" name="TextBox 7"/>
            <p:cNvSpPr txBox="1"/>
            <p:nvPr/>
          </p:nvSpPr>
          <p:spPr>
            <a:xfrm>
              <a:off x="0" y="-47625"/>
              <a:ext cx="825686" cy="189398"/>
            </a:xfrm>
            <a:prstGeom prst="rect">
              <a:avLst/>
            </a:prstGeom>
          </p:spPr>
          <p:txBody>
            <a:bodyPr lIns="50800" tIns="50800" rIns="50800" bIns="50800" rtlCol="0" anchor="ctr"/>
            <a:lstStyle/>
            <a:p>
              <a:pPr algn="ctr">
                <a:lnSpc>
                  <a:spcPts val="3625"/>
                </a:lnSpc>
              </a:pPr>
            </a:p>
          </p:txBody>
        </p:sp>
      </p:grpSp>
      <p:sp>
        <p:nvSpPr>
          <p:cNvPr id="8" name="TextBox 8"/>
          <p:cNvSpPr txBox="1"/>
          <p:nvPr/>
        </p:nvSpPr>
        <p:spPr>
          <a:xfrm>
            <a:off x="1829106" y="3747360"/>
            <a:ext cx="14629788" cy="1761153"/>
          </a:xfrm>
          <a:prstGeom prst="rect">
            <a:avLst/>
          </a:prstGeom>
        </p:spPr>
        <p:txBody>
          <a:bodyPr lIns="0" tIns="0" rIns="0" bIns="0" rtlCol="0" anchor="t">
            <a:spAutoFit/>
          </a:bodyPr>
          <a:lstStyle/>
          <a:p>
            <a:pPr algn="ctr">
              <a:lnSpc>
                <a:spcPts val="14320"/>
              </a:lnSpc>
            </a:pPr>
            <a:r>
              <a:rPr lang="en-US" sz="10305"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rPr>
              <a:t>恳请各位老师批评指正</a:t>
            </a:r>
            <a:endParaRPr lang="en-US" sz="10305" b="1">
              <a:solidFill>
                <a:srgbClr val="1E1E1E"/>
              </a:solidFill>
              <a:latin typeface="思源黑体 1 Bold" panose="020B0800000000000000" charset="-122"/>
              <a:ea typeface="思源黑体 1 Bold" panose="020B0800000000000000" charset="-122"/>
              <a:cs typeface="思源黑体 1 Bold" panose="020B0800000000000000" charset="-122"/>
              <a:sym typeface="思源黑体 1 Bold" panose="020B0800000000000000" charset="-122"/>
            </a:endParaRPr>
          </a:p>
        </p:txBody>
      </p:sp>
      <p:sp>
        <p:nvSpPr>
          <p:cNvPr id="9" name="TextBox 9"/>
          <p:cNvSpPr txBox="1"/>
          <p:nvPr/>
        </p:nvSpPr>
        <p:spPr>
          <a:xfrm>
            <a:off x="4216368" y="2937771"/>
            <a:ext cx="9855264" cy="1037463"/>
          </a:xfrm>
          <a:prstGeom prst="rect">
            <a:avLst/>
          </a:prstGeom>
        </p:spPr>
        <p:txBody>
          <a:bodyPr lIns="0" tIns="0" rIns="0" bIns="0" rtlCol="0" anchor="t">
            <a:spAutoFit/>
          </a:bodyPr>
          <a:lstStyle/>
          <a:p>
            <a:pPr algn="ctr">
              <a:lnSpc>
                <a:spcPts val="7700"/>
              </a:lnSpc>
            </a:pPr>
            <a:r>
              <a:rPr lang="en-US" sz="5100" b="1">
                <a:solidFill>
                  <a:srgbClr val="1F367F"/>
                </a:solidFill>
                <a:latin typeface="Akzidenz-Grotesk Medium" panose="02000603030000020004"/>
                <a:ea typeface="Akzidenz-Grotesk Medium" panose="02000603030000020004"/>
                <a:cs typeface="Akzidenz-Grotesk Medium" panose="02000603030000020004"/>
                <a:sym typeface="Akzidenz-Grotesk Medium" panose="02000603030000020004"/>
              </a:rPr>
              <a:t>THANK YOU FOR WATCHING</a:t>
            </a:r>
            <a:endParaRPr lang="en-US" sz="5100" b="1">
              <a:solidFill>
                <a:srgbClr val="1F367F"/>
              </a:solidFill>
              <a:latin typeface="Akzidenz-Grotesk Medium" panose="02000603030000020004"/>
              <a:ea typeface="Akzidenz-Grotesk Medium" panose="02000603030000020004"/>
              <a:cs typeface="Akzidenz-Grotesk Medium" panose="02000603030000020004"/>
              <a:sym typeface="Akzidenz-Grotesk Medium" panose="02000603030000020004"/>
            </a:endParaRPr>
          </a:p>
        </p:txBody>
      </p:sp>
      <p:sp>
        <p:nvSpPr>
          <p:cNvPr id="10" name="TextBox 10"/>
          <p:cNvSpPr txBox="1"/>
          <p:nvPr/>
        </p:nvSpPr>
        <p:spPr>
          <a:xfrm>
            <a:off x="6006786" y="6059354"/>
            <a:ext cx="2822863" cy="431038"/>
          </a:xfrm>
          <a:prstGeom prst="rect">
            <a:avLst/>
          </a:prstGeom>
        </p:spPr>
        <p:txBody>
          <a:bodyPr lIns="0" tIns="0" rIns="0" bIns="0" rtlCol="0" anchor="t">
            <a:spAutoFit/>
          </a:bodyPr>
          <a:lstStyle/>
          <a:p>
            <a:pPr algn="ctr">
              <a:lnSpc>
                <a:spcPts val="3540"/>
              </a:lnSpc>
            </a:pPr>
            <a:r>
              <a:rPr lang="en-US" sz="2530" b="1">
                <a:solidFill>
                  <a:srgbClr val="FFFFFF"/>
                </a:solidFill>
                <a:latin typeface="思源黑体 3 Medium" panose="020B0600000000000000" charset="-122"/>
                <a:ea typeface="思源黑体 3 Medium" panose="020B0600000000000000" charset="-122"/>
                <a:cs typeface="思源黑体 3 Medium" panose="020B0600000000000000" charset="-122"/>
                <a:sym typeface="思源黑体 3 Medium" panose="020B0600000000000000" charset="-122"/>
              </a:rPr>
              <a:t>答辩学生：王陆飞</a:t>
            </a:r>
            <a:endParaRPr lang="en-US" sz="2530" b="1">
              <a:solidFill>
                <a:srgbClr val="FFFFFF"/>
              </a:solidFill>
              <a:latin typeface="思源黑体 3 Medium" panose="020B0600000000000000" charset="-122"/>
              <a:ea typeface="思源黑体 3 Medium" panose="020B0600000000000000" charset="-122"/>
              <a:cs typeface="思源黑体 3 Medium" panose="020B0600000000000000" charset="-122"/>
              <a:sym typeface="思源黑体 3 Medium" panose="020B0600000000000000" charset="-122"/>
            </a:endParaRPr>
          </a:p>
        </p:txBody>
      </p:sp>
      <p:sp>
        <p:nvSpPr>
          <p:cNvPr id="11" name="TextBox 11"/>
          <p:cNvSpPr txBox="1"/>
          <p:nvPr/>
        </p:nvSpPr>
        <p:spPr>
          <a:xfrm>
            <a:off x="9458350" y="6049829"/>
            <a:ext cx="2822863" cy="431038"/>
          </a:xfrm>
          <a:prstGeom prst="rect">
            <a:avLst/>
          </a:prstGeom>
        </p:spPr>
        <p:txBody>
          <a:bodyPr lIns="0" tIns="0" rIns="0" bIns="0" rtlCol="0" anchor="t">
            <a:spAutoFit/>
          </a:bodyPr>
          <a:lstStyle/>
          <a:p>
            <a:pPr algn="ctr">
              <a:lnSpc>
                <a:spcPts val="3540"/>
              </a:lnSpc>
            </a:pPr>
            <a:r>
              <a:rPr lang="en-US" sz="2530" b="1">
                <a:solidFill>
                  <a:srgbClr val="FFFFFF"/>
                </a:solidFill>
                <a:latin typeface="思源黑体 3 Medium" panose="020B0600000000000000" charset="-122"/>
                <a:ea typeface="思源黑体 3 Medium" panose="020B0600000000000000" charset="-122"/>
                <a:cs typeface="思源黑体 3 Medium" panose="020B0600000000000000" charset="-122"/>
                <a:sym typeface="思源黑体 3 Medium" panose="020B0600000000000000" charset="-122"/>
              </a:rPr>
              <a:t>指导老师：杨洪亮</a:t>
            </a:r>
            <a:endParaRPr lang="en-US" sz="2530" b="1">
              <a:solidFill>
                <a:srgbClr val="FFFFFF"/>
              </a:solidFill>
              <a:latin typeface="思源黑体 3 Medium" panose="020B0600000000000000" charset="-122"/>
              <a:ea typeface="思源黑体 3 Medium" panose="020B0600000000000000" charset="-122"/>
              <a:cs typeface="思源黑体 3 Medium" panose="020B0600000000000000" charset="-122"/>
              <a:sym typeface="思源黑体 3 Medium" panose="020B0600000000000000" charset="-122"/>
            </a:endParaRPr>
          </a:p>
        </p:txBody>
      </p:sp>
      <p:grpSp>
        <p:nvGrpSpPr>
          <p:cNvPr id="12" name="Group 12"/>
          <p:cNvGrpSpPr/>
          <p:nvPr/>
        </p:nvGrpSpPr>
        <p:grpSpPr>
          <a:xfrm rot="-2700000">
            <a:off x="13822912" y="-2199980"/>
            <a:ext cx="4162673" cy="4162673"/>
            <a:chOff x="0" y="0"/>
            <a:chExt cx="1096342" cy="1096342"/>
          </a:xfrm>
        </p:grpSpPr>
        <p:sp>
          <p:nvSpPr>
            <p:cNvPr id="13" name="Freeform 13"/>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14" name="TextBox 14"/>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15" name="Group 15"/>
          <p:cNvGrpSpPr/>
          <p:nvPr/>
        </p:nvGrpSpPr>
        <p:grpSpPr>
          <a:xfrm rot="-2700000">
            <a:off x="16476737" y="-675243"/>
            <a:ext cx="4162673" cy="4162673"/>
            <a:chOff x="0" y="0"/>
            <a:chExt cx="1096342" cy="1096342"/>
          </a:xfrm>
        </p:grpSpPr>
        <p:sp>
          <p:nvSpPr>
            <p:cNvPr id="16" name="Freeform 16"/>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17" name="TextBox 17"/>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18" name="Group 18"/>
          <p:cNvGrpSpPr/>
          <p:nvPr/>
        </p:nvGrpSpPr>
        <p:grpSpPr>
          <a:xfrm rot="-2700000">
            <a:off x="16886129" y="3121726"/>
            <a:ext cx="1945612" cy="1945612"/>
            <a:chOff x="0" y="0"/>
            <a:chExt cx="512425" cy="512425"/>
          </a:xfrm>
        </p:grpSpPr>
        <p:sp>
          <p:nvSpPr>
            <p:cNvPr id="19" name="Freeform 19"/>
            <p:cNvSpPr/>
            <p:nvPr/>
          </p:nvSpPr>
          <p:spPr>
            <a:xfrm>
              <a:off x="0" y="0"/>
              <a:ext cx="512425" cy="512425"/>
            </a:xfrm>
            <a:custGeom>
              <a:avLst/>
              <a:gdLst/>
              <a:ahLst/>
              <a:cxnLst/>
              <a:rect l="l" t="t" r="r" b="b"/>
              <a:pathLst>
                <a:path w="512425" h="512425">
                  <a:moveTo>
                    <a:pt x="0" y="0"/>
                  </a:moveTo>
                  <a:lnTo>
                    <a:pt x="512425" y="0"/>
                  </a:lnTo>
                  <a:lnTo>
                    <a:pt x="512425" y="512425"/>
                  </a:lnTo>
                  <a:lnTo>
                    <a:pt x="0" y="512425"/>
                  </a:lnTo>
                  <a:close/>
                </a:path>
              </a:pathLst>
            </a:custGeom>
            <a:solidFill>
              <a:srgbClr val="1F367F">
                <a:alpha val="89804"/>
              </a:srgbClr>
            </a:solidFill>
          </p:spPr>
        </p:sp>
        <p:sp>
          <p:nvSpPr>
            <p:cNvPr id="20" name="TextBox 20"/>
            <p:cNvSpPr txBox="1"/>
            <p:nvPr/>
          </p:nvSpPr>
          <p:spPr>
            <a:xfrm>
              <a:off x="0" y="-47625"/>
              <a:ext cx="512425" cy="560050"/>
            </a:xfrm>
            <a:prstGeom prst="rect">
              <a:avLst/>
            </a:prstGeom>
          </p:spPr>
          <p:txBody>
            <a:bodyPr lIns="50800" tIns="50800" rIns="50800" bIns="50800" rtlCol="0" anchor="ctr"/>
            <a:lstStyle/>
            <a:p>
              <a:pPr algn="ctr">
                <a:lnSpc>
                  <a:spcPts val="3625"/>
                </a:lnSpc>
              </a:pPr>
            </a:p>
          </p:txBody>
        </p:sp>
      </p:grpSp>
      <p:grpSp>
        <p:nvGrpSpPr>
          <p:cNvPr id="21" name="Group 21"/>
          <p:cNvGrpSpPr/>
          <p:nvPr/>
        </p:nvGrpSpPr>
        <p:grpSpPr>
          <a:xfrm rot="8100000">
            <a:off x="302415" y="8324307"/>
            <a:ext cx="4162673" cy="4162673"/>
            <a:chOff x="0" y="0"/>
            <a:chExt cx="1096342" cy="1096342"/>
          </a:xfrm>
        </p:grpSpPr>
        <p:sp>
          <p:nvSpPr>
            <p:cNvPr id="22" name="Freeform 22"/>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23" name="TextBox 23"/>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24" name="Group 24"/>
          <p:cNvGrpSpPr/>
          <p:nvPr/>
        </p:nvGrpSpPr>
        <p:grpSpPr>
          <a:xfrm rot="8100000">
            <a:off x="-2351410" y="6799570"/>
            <a:ext cx="4162673" cy="4162673"/>
            <a:chOff x="0" y="0"/>
            <a:chExt cx="1096342" cy="1096342"/>
          </a:xfrm>
        </p:grpSpPr>
        <p:sp>
          <p:nvSpPr>
            <p:cNvPr id="25" name="Freeform 25"/>
            <p:cNvSpPr/>
            <p:nvPr/>
          </p:nvSpPr>
          <p:spPr>
            <a:xfrm>
              <a:off x="0" y="0"/>
              <a:ext cx="1096342" cy="1096342"/>
            </a:xfrm>
            <a:custGeom>
              <a:avLst/>
              <a:gdLst/>
              <a:ahLst/>
              <a:cxnLst/>
              <a:rect l="l" t="t" r="r" b="b"/>
              <a:pathLst>
                <a:path w="1096342" h="1096342">
                  <a:moveTo>
                    <a:pt x="0" y="0"/>
                  </a:moveTo>
                  <a:lnTo>
                    <a:pt x="1096342" y="0"/>
                  </a:lnTo>
                  <a:lnTo>
                    <a:pt x="1096342" y="1096342"/>
                  </a:lnTo>
                  <a:lnTo>
                    <a:pt x="0" y="1096342"/>
                  </a:lnTo>
                  <a:close/>
                </a:path>
              </a:pathLst>
            </a:custGeom>
            <a:solidFill>
              <a:srgbClr val="1F367F">
                <a:alpha val="89804"/>
              </a:srgbClr>
            </a:solidFill>
          </p:spPr>
        </p:sp>
        <p:sp>
          <p:nvSpPr>
            <p:cNvPr id="26" name="TextBox 26"/>
            <p:cNvSpPr txBox="1"/>
            <p:nvPr/>
          </p:nvSpPr>
          <p:spPr>
            <a:xfrm>
              <a:off x="0" y="-47625"/>
              <a:ext cx="1096342" cy="1143967"/>
            </a:xfrm>
            <a:prstGeom prst="rect">
              <a:avLst/>
            </a:prstGeom>
          </p:spPr>
          <p:txBody>
            <a:bodyPr lIns="50800" tIns="50800" rIns="50800" bIns="50800" rtlCol="0" anchor="ctr"/>
            <a:lstStyle/>
            <a:p>
              <a:pPr algn="ctr">
                <a:lnSpc>
                  <a:spcPts val="3625"/>
                </a:lnSpc>
              </a:pPr>
            </a:p>
          </p:txBody>
        </p:sp>
      </p:grpSp>
      <p:grpSp>
        <p:nvGrpSpPr>
          <p:cNvPr id="27" name="Group 27"/>
          <p:cNvGrpSpPr/>
          <p:nvPr/>
        </p:nvGrpSpPr>
        <p:grpSpPr>
          <a:xfrm rot="8100000">
            <a:off x="-543741" y="5219662"/>
            <a:ext cx="1945612" cy="1945612"/>
            <a:chOff x="0" y="0"/>
            <a:chExt cx="512425" cy="512425"/>
          </a:xfrm>
        </p:grpSpPr>
        <p:sp>
          <p:nvSpPr>
            <p:cNvPr id="28" name="Freeform 28"/>
            <p:cNvSpPr/>
            <p:nvPr/>
          </p:nvSpPr>
          <p:spPr>
            <a:xfrm>
              <a:off x="0" y="0"/>
              <a:ext cx="512425" cy="512425"/>
            </a:xfrm>
            <a:custGeom>
              <a:avLst/>
              <a:gdLst/>
              <a:ahLst/>
              <a:cxnLst/>
              <a:rect l="l" t="t" r="r" b="b"/>
              <a:pathLst>
                <a:path w="512425" h="512425">
                  <a:moveTo>
                    <a:pt x="0" y="0"/>
                  </a:moveTo>
                  <a:lnTo>
                    <a:pt x="512425" y="0"/>
                  </a:lnTo>
                  <a:lnTo>
                    <a:pt x="512425" y="512425"/>
                  </a:lnTo>
                  <a:lnTo>
                    <a:pt x="0" y="512425"/>
                  </a:lnTo>
                  <a:close/>
                </a:path>
              </a:pathLst>
            </a:custGeom>
            <a:solidFill>
              <a:srgbClr val="1F367F">
                <a:alpha val="89804"/>
              </a:srgbClr>
            </a:solidFill>
          </p:spPr>
        </p:sp>
        <p:sp>
          <p:nvSpPr>
            <p:cNvPr id="29" name="TextBox 29"/>
            <p:cNvSpPr txBox="1"/>
            <p:nvPr/>
          </p:nvSpPr>
          <p:spPr>
            <a:xfrm>
              <a:off x="0" y="-47625"/>
              <a:ext cx="512425" cy="560050"/>
            </a:xfrm>
            <a:prstGeom prst="rect">
              <a:avLst/>
            </a:prstGeom>
          </p:spPr>
          <p:txBody>
            <a:bodyPr lIns="50800" tIns="50800" rIns="50800" bIns="50800" rtlCol="0" anchor="ctr"/>
            <a:lstStyle/>
            <a:p>
              <a:pPr algn="ctr">
                <a:lnSpc>
                  <a:spcPts val="3625"/>
                </a:lnSpc>
              </a:pPr>
            </a:p>
          </p:txBody>
        </p:sp>
      </p:grpSp>
    </p:spTree>
  </p:cSld>
  <p:clrMapOvr>
    <a:masterClrMapping/>
  </p:clrMapOvr>
</p:sld>
</file>

<file path=ppt/tags/tag1.xml><?xml version="1.0" encoding="utf-8"?>
<p:tagLst xmlns:p="http://schemas.openxmlformats.org/presentationml/2006/main">
  <p:tag name="commondata" val="eyJoZGlkIjoiMTgyMzU0Y2FmOWEzMDIyYWFhZWMxZTI1MjFmZTI2Njg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2366</Words>
  <Application>WPS 演示</Application>
  <PresentationFormat>On-screen Show (4:3)</PresentationFormat>
  <Paragraphs>325</Paragraphs>
  <Slides>22</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22</vt:i4>
      </vt:variant>
    </vt:vector>
  </HeadingPairs>
  <TitlesOfParts>
    <vt:vector size="43" baseType="lpstr">
      <vt:lpstr>Arial</vt:lpstr>
      <vt:lpstr>宋体</vt:lpstr>
      <vt:lpstr>Wingdings</vt:lpstr>
      <vt:lpstr>思源黑体 1 Bold</vt:lpstr>
      <vt:lpstr>黑体</vt:lpstr>
      <vt:lpstr>Akzidenz-Grotesk Medium</vt:lpstr>
      <vt:lpstr>思源黑体 2 Medium</vt:lpstr>
      <vt:lpstr>思源黑体 2 Bold</vt:lpstr>
      <vt:lpstr>Akzidenz-Grotesk</vt:lpstr>
      <vt:lpstr>Akzidenz-Grotesk Bold</vt:lpstr>
      <vt:lpstr>思源黑体 2 Heavy</vt:lpstr>
      <vt:lpstr>思源黑体 2</vt:lpstr>
      <vt:lpstr>SolidWorks GDT</vt:lpstr>
      <vt:lpstr>Calibri</vt:lpstr>
      <vt:lpstr>微软雅黑</vt:lpstr>
      <vt:lpstr>Arial Unicode MS</vt:lpstr>
      <vt:lpstr>思源黑体 3 Bold</vt:lpstr>
      <vt:lpstr>思源黑体 3 Medium</vt:lpstr>
      <vt:lpstr>DejaVu Math TeX Gyre</vt:lpstr>
      <vt:lpstr>Adobe Gothic Std 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学术风毕业论文答辩</dc:title>
  <dc:creator/>
  <cp:lastModifiedBy>飞皇</cp:lastModifiedBy>
  <cp:revision>6</cp:revision>
  <dcterms:created xsi:type="dcterms:W3CDTF">2006-08-16T00:00:00Z</dcterms:created>
  <dcterms:modified xsi:type="dcterms:W3CDTF">2025-05-27T02:42:37Z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82DBFEC01D0D432B907C0AF45F355094_12</vt:lpwstr>
  </property>
  <property fmtid="{D5CDD505-2E9C-101B-9397-08002B2CF9AE}" pid="3" name="KSOProductBuildVer">
    <vt:lpwstr>2052-12.1.0.16120</vt:lpwstr>
  </property>
</Properties>
</file>